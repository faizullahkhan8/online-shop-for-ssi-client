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78f23c0892d4430" /><Relationship Type="http://schemas.openxmlformats.org/officeDocument/2006/relationships/extended-properties" Target="/docProps/app.xml" Id="Ra7aa9882b020488f" /><Relationship Type="http://schemas.openxmlformats.org/officeDocument/2006/relationships/officeDocument" Target="/ppt/presentation.xml" Id="Rb5cdf97c3309422c" /></Relationships>
</file>

<file path=ppt/presentation.xml><?xml version="1.0" encoding="utf-8"?>
<p:presentation xmlns:p="http://schemas.openxmlformats.org/presentationml/2006/main">
  <p:sldMasterIdLst>
    <p:sldMasterId xmlns:r="http://schemas.openxmlformats.org/officeDocument/2006/relationships" id="2147483648" r:id="R1ab589c685964d96"/>
  </p:sldMasterIdLst>
  <p:notesMasterIdLst>
    <p:notesMasterId xmlns:r="http://schemas.openxmlformats.org/officeDocument/2006/relationships" r:id="Rfefb158aa451451f"/>
  </p:notesMasterIdLst>
  <p:sldIdLst>
    <p:sldId xmlns:r="http://schemas.openxmlformats.org/officeDocument/2006/relationships" id="256" r:id="R00fe913604cc4fe5"/>
    <p:sldId xmlns:r="http://schemas.openxmlformats.org/officeDocument/2006/relationships" id="257" r:id="Re06fbd2a1026443e"/>
    <p:sldId xmlns:r="http://schemas.openxmlformats.org/officeDocument/2006/relationships" id="258" r:id="Rdf859eae2efa4e5f"/>
    <p:sldId xmlns:r="http://schemas.openxmlformats.org/officeDocument/2006/relationships" id="259" r:id="R311b03debdd54195"/>
    <p:sldId xmlns:r="http://schemas.openxmlformats.org/officeDocument/2006/relationships" id="260" r:id="Rc3f18f77b6524782"/>
    <p:sldId xmlns:r="http://schemas.openxmlformats.org/officeDocument/2006/relationships" id="261" r:id="R395fcf06b45946f9"/>
    <p:sldId xmlns:r="http://schemas.openxmlformats.org/officeDocument/2006/relationships" id="262" r:id="R1321f743b5c640d0"/>
    <p:sldId xmlns:r="http://schemas.openxmlformats.org/officeDocument/2006/relationships" id="263" r:id="R782a739c36fc471b"/>
    <p:sldId xmlns:r="http://schemas.openxmlformats.org/officeDocument/2006/relationships" id="264" r:id="R8c051f0ff6d14f05"/>
    <p:sldId xmlns:r="http://schemas.openxmlformats.org/officeDocument/2006/relationships" id="265" r:id="R286655e6fe5c4282"/>
    <p:sldId xmlns:r="http://schemas.openxmlformats.org/officeDocument/2006/relationships" id="266" r:id="Rf8c77c0309504f57"/>
    <p:sldId xmlns:r="http://schemas.openxmlformats.org/officeDocument/2006/relationships" id="267" r:id="Re4976b690c7f4f22"/>
    <p:sldId xmlns:r="http://schemas.openxmlformats.org/officeDocument/2006/relationships" id="268" r:id="Rb3764cf76f124ec6"/>
    <p:sldId xmlns:r="http://schemas.openxmlformats.org/officeDocument/2006/relationships" id="269" r:id="R7affb408c3964b59"/>
    <p:sldId xmlns:r="http://schemas.openxmlformats.org/officeDocument/2006/relationships" id="270" r:id="R54f5cb3ff0cd41b4"/>
    <p:sldId xmlns:r="http://schemas.openxmlformats.org/officeDocument/2006/relationships" id="271" r:id="R6dd729334d7c4c7f"/>
    <p:sldId xmlns:r="http://schemas.openxmlformats.org/officeDocument/2006/relationships" id="272" r:id="Rcdafc47d3b5940ae"/>
    <p:sldId xmlns:r="http://schemas.openxmlformats.org/officeDocument/2006/relationships" id="273" r:id="Ra2203e7330614a3f"/>
    <p:sldId xmlns:r="http://schemas.openxmlformats.org/officeDocument/2006/relationships" id="274" r:id="R95e753f4b0b94121"/>
    <p:sldId xmlns:r="http://schemas.openxmlformats.org/officeDocument/2006/relationships" id="275" r:id="Rfecb836d382e4e7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6fc2851387d49ef" /><Relationship Type="http://schemas.openxmlformats.org/officeDocument/2006/relationships/slideMaster" Target="/ppt/slideMasters/slideMaster1.xml" Id="R1ab589c685964d96" /><Relationship Type="http://schemas.openxmlformats.org/officeDocument/2006/relationships/notesMaster" Target="/ppt/notesMasters/notesMaster1.xml" Id="Rfefb158aa451451f" /><Relationship Type="http://schemas.openxmlformats.org/officeDocument/2006/relationships/presProps" Target="/ppt/presProps.xml" Id="R14e980d9181a4f7e" /><Relationship Type="http://schemas.openxmlformats.org/officeDocument/2006/relationships/tableStyles" Target="/ppt/tableStyles.xml" Id="R0aae66e7c3ff4c4a" /><Relationship Type="http://schemas.openxmlformats.org/officeDocument/2006/relationships/slide" Target="/ppt/slides/slide1.xml" Id="R00fe913604cc4fe5" /><Relationship Type="http://schemas.openxmlformats.org/officeDocument/2006/relationships/slide" Target="/ppt/slides/slide2.xml" Id="Re06fbd2a1026443e" /><Relationship Type="http://schemas.openxmlformats.org/officeDocument/2006/relationships/slide" Target="/ppt/slides/slide3.xml" Id="Rdf859eae2efa4e5f" /><Relationship Type="http://schemas.openxmlformats.org/officeDocument/2006/relationships/slide" Target="/ppt/slides/slide4.xml" Id="R311b03debdd54195" /><Relationship Type="http://schemas.openxmlformats.org/officeDocument/2006/relationships/slide" Target="/ppt/slides/slide5.xml" Id="Rc3f18f77b6524782" /><Relationship Type="http://schemas.openxmlformats.org/officeDocument/2006/relationships/slide" Target="/ppt/slides/slide6.xml" Id="R395fcf06b45946f9" /><Relationship Type="http://schemas.openxmlformats.org/officeDocument/2006/relationships/slide" Target="/ppt/slides/slide7.xml" Id="R1321f743b5c640d0" /><Relationship Type="http://schemas.openxmlformats.org/officeDocument/2006/relationships/slide" Target="/ppt/slides/slide8.xml" Id="R782a739c36fc471b" /><Relationship Type="http://schemas.openxmlformats.org/officeDocument/2006/relationships/slide" Target="/ppt/slides/slide9.xml" Id="R8c051f0ff6d14f05" /><Relationship Type="http://schemas.openxmlformats.org/officeDocument/2006/relationships/slide" Target="/ppt/slides/slide10.xml" Id="R286655e6fe5c4282" /><Relationship Type="http://schemas.openxmlformats.org/officeDocument/2006/relationships/slide" Target="/ppt/slides/slide11.xml" Id="Rf8c77c0309504f57" /><Relationship Type="http://schemas.openxmlformats.org/officeDocument/2006/relationships/slide" Target="/ppt/slides/slide12.xml" Id="Re4976b690c7f4f22" /><Relationship Type="http://schemas.openxmlformats.org/officeDocument/2006/relationships/slide" Target="/ppt/slides/slide13.xml" Id="Rb3764cf76f124ec6" /><Relationship Type="http://schemas.openxmlformats.org/officeDocument/2006/relationships/slide" Target="/ppt/slides/slide14.xml" Id="R7affb408c3964b59" /><Relationship Type="http://schemas.openxmlformats.org/officeDocument/2006/relationships/slide" Target="/ppt/slides/slide15.xml" Id="R54f5cb3ff0cd41b4" /><Relationship Type="http://schemas.openxmlformats.org/officeDocument/2006/relationships/slide" Target="/ppt/slides/slide16.xml" Id="R6dd729334d7c4c7f" /><Relationship Type="http://schemas.openxmlformats.org/officeDocument/2006/relationships/slide" Target="/ppt/slides/slide17.xml" Id="Rcdafc47d3b5940ae" /><Relationship Type="http://schemas.openxmlformats.org/officeDocument/2006/relationships/slide" Target="/ppt/slides/slide18.xml" Id="Ra2203e7330614a3f" /><Relationship Type="http://schemas.openxmlformats.org/officeDocument/2006/relationships/slide" Target="/ppt/slides/slide19.xml" Id="R95e753f4b0b94121" /><Relationship Type="http://schemas.openxmlformats.org/officeDocument/2006/relationships/slide" Target="/ppt/slides/slide20.xml" Id="Rfecb836d382e4e7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f911311ab46457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e8178e200004679" /><Relationship Type="http://schemas.openxmlformats.org/officeDocument/2006/relationships/notesMaster" Target="/ppt/notesMasters/notesMaster1.xml" Id="Ra9e9685116264106" /></Relationships>
</file>

<file path=ppt/notesSlides/_rels/notesSlide2.xml.rels>&#65279;<?xml version="1.0" encoding="utf-8"?><Relationships xmlns="http://schemas.openxmlformats.org/package/2006/relationships"><Relationship Type="http://schemas.openxmlformats.org/officeDocument/2006/relationships/slide" Target="/ppt/slides/slide2.xml" Id="Rda60255362c34cee" /><Relationship Type="http://schemas.openxmlformats.org/officeDocument/2006/relationships/notesMaster" Target="/ppt/notesMasters/notesMaster1.xml" Id="R471cc855ae8e4b26" /></Relationships>
</file>

<file path=ppt/notesSlides/_rels/notesSlide3.xml.rels>&#65279;<?xml version="1.0" encoding="utf-8"?><Relationships xmlns="http://schemas.openxmlformats.org/package/2006/relationships"><Relationship Type="http://schemas.openxmlformats.org/officeDocument/2006/relationships/slide" Target="/ppt/slides/slide3.xml" Id="R4a024c46fab64db9" /><Relationship Type="http://schemas.openxmlformats.org/officeDocument/2006/relationships/notesMaster" Target="/ppt/notesMasters/notesMaster1.xml" Id="Rc9e5c47946a4418d" /></Relationships>
</file>

<file path=ppt/notesSlides/_rels/notesSlide4.xml.rels>&#65279;<?xml version="1.0" encoding="utf-8"?><Relationships xmlns="http://schemas.openxmlformats.org/package/2006/relationships"><Relationship Type="http://schemas.openxmlformats.org/officeDocument/2006/relationships/slide" Target="/ppt/slides/slide4.xml" Id="Rbbd10e336d6b4ff0" /><Relationship Type="http://schemas.openxmlformats.org/officeDocument/2006/relationships/notesMaster" Target="/ppt/notesMasters/notesMaster1.xml" Id="R9579b9b3db2148cf" /></Relationships>
</file>

<file path=ppt/notesSlides/_rels/notesSlide5.xml.rels>&#65279;<?xml version="1.0" encoding="utf-8"?><Relationships xmlns="http://schemas.openxmlformats.org/package/2006/relationships"><Relationship Type="http://schemas.openxmlformats.org/officeDocument/2006/relationships/slide" Target="/ppt/slides/slide5.xml" Id="Rb9b966498d8a4593" /><Relationship Type="http://schemas.openxmlformats.org/officeDocument/2006/relationships/notesMaster" Target="/ppt/notesMasters/notesMaster1.xml" Id="R168f7c7d50d94e72"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a33bb5172e4430" /><Relationship Type="http://schemas.openxmlformats.org/officeDocument/2006/relationships/notesMaster" Target="/ppt/notesMasters/notesMaster1.xml" Id="R3000bf904fa149c2" /></Relationships>
</file>

<file path=ppt/notesSlides/_rels/notesSlide7.xml.rels>&#65279;<?xml version="1.0" encoding="utf-8"?><Relationships xmlns="http://schemas.openxmlformats.org/package/2006/relationships"><Relationship Type="http://schemas.openxmlformats.org/officeDocument/2006/relationships/slide" Target="/ppt/slides/slide7.xml" Id="R165af86a41954a25" /><Relationship Type="http://schemas.openxmlformats.org/officeDocument/2006/relationships/notesMaster" Target="/ppt/notesMasters/notesMaster1.xml" Id="Re4dea02be5a94990" /></Relationships>
</file>

<file path=ppt/notesSlides/_rels/notesSlide8.xml.rels>&#65279;<?xml version="1.0" encoding="utf-8"?><Relationships xmlns="http://schemas.openxmlformats.org/package/2006/relationships"><Relationship Type="http://schemas.openxmlformats.org/officeDocument/2006/relationships/slide" Target="/ppt/slides/slide8.xml" Id="Raa621edac5f94d1c" /><Relationship Type="http://schemas.openxmlformats.org/officeDocument/2006/relationships/notesMaster" Target="/ppt/notesMasters/notesMaster1.xml" Id="R594f3c8ba36441f6" /></Relationships>
</file>

<file path=ppt/notesSlides/_rels/notesSlide9.xml.rels>&#65279;<?xml version="1.0" encoding="utf-8"?><Relationships xmlns="http://schemas.openxmlformats.org/package/2006/relationships"><Relationship Type="http://schemas.openxmlformats.org/officeDocument/2006/relationships/slide" Target="/ppt/slides/slide9.xml" Id="Rb727653aa94b45b4" /><Relationship Type="http://schemas.openxmlformats.org/officeDocument/2006/relationships/notesMaster" Target="/ppt/notesMasters/notesMaster1.xml" Id="Re090ab4f85f54f4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5398fa404ca40d8" /><Relationship Type="http://schemas.openxmlformats.org/officeDocument/2006/relationships/notesMaster" Target="/ppt/notesMasters/notesMaster1.xml" Id="Rf51d438d313845b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a7c779aeb95495f" /><Relationship Type="http://schemas.openxmlformats.org/officeDocument/2006/relationships/notesMaster" Target="/ppt/notesMasters/notesMaster1.xml" Id="Rc7883edac276431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2ed9978cfb44cd6" /><Relationship Type="http://schemas.openxmlformats.org/officeDocument/2006/relationships/notesMaster" Target="/ppt/notesMasters/notesMaster1.xml" Id="R010c6f5ba7d94b5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3a5045947914f3f" /><Relationship Type="http://schemas.openxmlformats.org/officeDocument/2006/relationships/notesMaster" Target="/ppt/notesMasters/notesMaster1.xml" Id="R8ae97a45f69646c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c2079952b514050" /><Relationship Type="http://schemas.openxmlformats.org/officeDocument/2006/relationships/notesMaster" Target="/ppt/notesMasters/notesMaster1.xml" Id="R02a35244eae64d5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27a3c65d9754c40" /><Relationship Type="http://schemas.openxmlformats.org/officeDocument/2006/relationships/notesMaster" Target="/ppt/notesMasters/notesMaster1.xml" Id="R5f421f7e8ce14a5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bea8b615d6846cd" /><Relationship Type="http://schemas.openxmlformats.org/officeDocument/2006/relationships/notesMaster" Target="/ppt/notesMasters/notesMaster1.xml" Id="Re146664f9ea1443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bbd08f54c5e447f" /><Relationship Type="http://schemas.openxmlformats.org/officeDocument/2006/relationships/notesMaster" Target="/ppt/notesMasters/notesMaster1.xml" Id="Rfcdf30d61346459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2d9918d8b874246" /><Relationship Type="http://schemas.openxmlformats.org/officeDocument/2006/relationships/notesMaster" Target="/ppt/notesMasters/notesMaster1.xml" Id="R521320a6fc2648d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f2bfc88aea34934" /><Relationship Type="http://schemas.openxmlformats.org/officeDocument/2006/relationships/notesMaster" Target="/ppt/notesMasters/notesMaster1.xml" Id="R6f0d18f0613f47d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3ed3ed15551476c" /><Relationship Type="http://schemas.openxmlformats.org/officeDocument/2006/relationships/notesMaster" Target="/ppt/notesMasters/notesMaster1.xml" Id="R0b51e510911644b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E:/Online-Shop-for-SSI-Client/frontend/src/Pages/HomePage.jsx</a:t>
            </a:r>
          </a:p>
          <a:p xmlns:a="http://schemas.openxmlformats.org/drawingml/2006/main">
            <a:r>
              <a:t>Application source review dated 17 October 2026. Live workflows and external integrations have not been tested.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E:/Online-Shop-for-SSI-Client/frontend/src/App.jsx</a:t>
            </a:r>
          </a:p>
          <a:p xmlns:a="http://schemas.openxmlformats.org/drawingml/2006/main">
            <a:r>
              <a:t>Application source review dated 17 October 2026. Live workflows and external integrations have not been tested.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app screenshot captured from http://127.0.0.1:5173/ on 18 October 2026. Local demo records, prices, order totals, and promotional copy are illustrative. The temporary MongoDB database contains sample records only. Product image placeholders appear because production assets are not configured. Website marketing claims visible in the screenshot are UI content and have not been independently verified. The product page includes a missing-icon import fix. The homepage builder includes an initial-layout reference fix.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E:/Online-Shop-for-SSI-Client/backend/controllers/product.controller.js</a:t>
            </a:r>
          </a:p>
          <a:p xmlns:a="http://schemas.openxmlformats.org/drawingml/2006/main">
            <a:r>
              <a:t>Application source review dated 17 October 2026. Live workflows and external integrations have not been tested.</a:t>
            </a:r>
          </a:p>
          <a:p xmlns:a="http://schemas.openxmlformats.org/drawingml/2006/main">
            <a:r>
              <a:t>Additional sources: frontend/src/Pages/ProductListPage.jsx; backend/controllers/review.controller.js. The product API supports category, price, product type, and vendor filters. The current public listing explicitly submits search and page parameters.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app screenshot captured from http://127.0.0.1:5173/products on 18 October 2026. Local demo records, prices, order totals, and promotional copy are illustrative. The temporary MongoDB database contains sample records only. Product image placeholders appear because production assets are not configured. Website marketing claims visible in the screenshot are UI content and have not been independently verified. The product page includes a missing-icon import fix. The homepage builder includes an initial-layout reference fix.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app screenshot captured from http://127.0.0.1:5173/product on 18 October 2026. Local demo records, prices, order totals, and promotional copy are illustrative. The temporary MongoDB database contains sample records only. Product image placeholders appear because production assets are not configured. Website marketing claims visible in the screenshot are UI content and have not been independently verified. The product page includes a missing-icon import fix. The homepage builder includes an initial-layout reference fix.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E:/Online-Shop-for-SSI-Client/backend/controllers/user.controller.js</a:t>
            </a:r>
          </a:p>
          <a:p xmlns:a="http://schemas.openxmlformats.org/drawingml/2006/main">
            <a:r>
              <a:t>Application source review dated 17 October 2026. Live workflows and external integrations have not been tested.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E:/Online-Shop-for-SSI-Client/frontend/src/Pages/CheckoutPage.jsx</a:t>
            </a:r>
          </a:p>
          <a:p xmlns:a="http://schemas.openxmlformats.org/drawingml/2006/main">
            <a:r>
              <a:t>Application source review dated 17 October 2026. Live workflows and external integrations have not been tested.</a:t>
            </a:r>
          </a:p>
          <a:p xmlns:a="http://schemas.openxmlformats.org/drawingml/2006/main">
            <a:r>
              <a:t>Additional source: frontend/src/store/slices/cartSlice.js. Checkout provides a COD fallback when configured methods are unavailable. Payment selection does not establish online payment processing.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app screenshot captured from http://127.0.0.1:5173/cart on 18 October 2026. Local demo records, prices, order totals, and promotional copy are illustrative. The temporary MongoDB database contains sample records only. Product image placeholders appear because production assets are not configured. Website marketing claims visible in the screenshot are UI content and have not been independently verified. The product page includes a missing-icon import fix. The homepage builder includes an initial-layout reference fix.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E:/Online-Shop-for-SSI-Client/backend/controllers/order.controller.js</a:t>
            </a:r>
          </a:p>
          <a:p xmlns:a="http://schemas.openxmlformats.org/drawingml/2006/main">
            <a:r>
              <a:t>Application source review dated 17 October 2026. Live workflows and external integrations have not been tested.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E:/Online-Shop-for-SSI-Client/backend/controllers/prescription.controller.js</a:t>
            </a:r>
          </a:p>
          <a:p xmlns:a="http://schemas.openxmlformats.org/drawingml/2006/main">
            <a:r>
              <a:t>Application source review dated 17 October 2026. Live workflows and external integrations have not been tested.</a:t>
            </a:r>
          </a:p>
          <a:p xmlns:a="http://schemas.openxmlformats.org/drawingml/2006/main">
            <a:r>
              <a:t>Additional source: backend/routers/prescription.router.js. Optional authentication permits guest uploads. Prescription submission is a separate workflow from the standard product checkout.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app screenshot captured from http://127.0.0.1:5173/upload-prescription on 18 October 2026. Local demo records, prices, order totals, and promotional copy are illustrative. The temporary MongoDB database contains sample records only. Product image placeholders appear because production assets are not configured. Website marketing claims visible in the screenshot are UI content and have not been independently verified. The product page includes a missing-icon import fix. The homepage builder includes an initial-layout reference fix.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E:/Online-Shop-for-SSI-Client/backend/models/product.model.js</a:t>
            </a:r>
          </a:p>
          <a:p xmlns:a="http://schemas.openxmlformats.org/drawingml/2006/main">
            <a:r>
              <a:t>Application source review dated 17 October 2026. Live workflows and external integrations have not been tested.</a:t>
            </a:r>
          </a:p>
          <a:p xmlns:a="http://schemas.openxmlformats.org/drawingml/2006/main">
            <a:r>
              <a:t>Additional sources: backend/controllers/order.controller.js; frontend/src/Pages/Admin/VendorsListPage.jsx; frontend/src/Pages/Admin/UsersListPage.jsx.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E:/Online-Shop-for-SSI-Client/backend/controllers/order.controller.js</a:t>
            </a:r>
          </a:p>
          <a:p xmlns:a="http://schemas.openxmlformats.org/drawingml/2006/main">
            <a:r>
              <a:t>Application source review dated 17 October 2026. Live workflows and external integrations have not been tested.</a:t>
            </a:r>
          </a:p>
          <a:p xmlns:a="http://schemas.openxmlformats.org/drawingml/2006/main">
            <a:r>
              <a:t>Additional sources: backend/config/socket.js; backend/utils/smsService.js. Dashboard totalSales sums stored order grand totals and should not be interpreted as confirmed collected revenue. External SMS delivery requires a configured gateway.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app screenshot captured from http://127.0.0.1:5173/admin-dashboard on 18 October 2026. Local demo records, prices, order totals, and promotional copy are illustrative. The temporary MongoDB database contains sample records only. Product image placeholders appear because production assets are not configured. Website marketing claims visible in the screenshot are UI content and have not been independently verified. The product page includes a missing-icon import fix. The homepage builder includes an initial-layout reference fix.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E:/Online-Shop-for-SSI-Client/backend/models/settings.model.js</a:t>
            </a:r>
          </a:p>
          <a:p xmlns:a="http://schemas.openxmlformats.org/drawingml/2006/main">
            <a:r>
              <a:t>Application source review dated 17 October 2026. Live workflows and external integrations have not been tested.</a:t>
            </a:r>
          </a:p>
          <a:p xmlns:a="http://schemas.openxmlformats.org/drawingml/2006/main">
            <a:r>
              <a:t>Additional sources: backend/models/promotion.model.js; frontend/src/Pages/CheckoutPage.jsx.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E:/Online-Shop-for-SSI-Client/frontend/src/Pages/Admin/HomePageBuilderPage.jsx</a:t>
            </a:r>
          </a:p>
          <a:p xmlns:a="http://schemas.openxmlformats.org/drawingml/2006/main">
            <a:r>
              <a:t>Application source review dated 17 October 2026. Live workflows and external integrations have not been tested.</a:t>
            </a:r>
          </a:p>
          <a:p xmlns:a="http://schemas.openxmlformats.org/drawingml/2006/main">
            <a:r>
              <a:t>Additional sources: backend/models/homePage.model.js; frontend/src/Pages/Admin/MenuBuilderPage.jsx; frontend/src/Pages/Admin/StaffTreeBuilderPage.jsx. The homepage builder also includes testimonials, brands, custom HTML, spacing, and other configurable sections.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app screenshot captured from http://127.0.0.1:5173/admin-dashboard/homepage-builder on 18 October 2026. Local demo records, prices, order totals, and promotional copy are illustrative. The temporary MongoDB database contains sample records only. Product image placeholders appear because production assets are not configured. Website marketing claims visible in the screenshot are UI content and have not been independently verified. The product page includes a missing-icon import fix. The homepage builder includes an initial-layout reference fix.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E:/Online-Shop-for-SSI-Client/frontend/package.json</a:t>
            </a:r>
          </a:p>
          <a:p xmlns:a="http://schemas.openxmlformats.org/drawingml/2006/main">
            <a:r>
              <a:t>Application source review dated 17 October 2026. Live workflows and external integrations have not been tested.</a:t>
            </a:r>
          </a:p>
          <a:p xmlns:a="http://schemas.openxmlformats.org/drawingml/2006/main">
            <a:r>
              <a:t>Additional sources: backend/package.json; backend/config/localDb.js; frontend/src/api/apiClient.js. The app also uses Redux Persist, Recharts, lazy-loaded routes, reusable components, and centralized error handling.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E:/Online-Shop-for-SSI-Client/backend/routers/promotion.router.js</a:t>
            </a:r>
          </a:p>
          <a:p xmlns:a="http://schemas.openxmlformats.org/drawingml/2006/main">
            <a:r>
              <a:t>Application source review dated 17 October 2026. Live workflows and external integrations have not been tested.</a:t>
            </a:r>
          </a:p>
          <a:p xmlns:a="http://schemas.openxmlformats.org/drawingml/2006/main">
            <a:r>
              <a:t>Additional sources: frontend/src/App.jsx (Messages placeholder); frontend/src/Components/HomeSections/NewsletterSection.jsx (submit only prevents default); frontend/src/Pages/CheckoutPage.jsx (payment selection). These are review observations and proposed priorities, not completed fixes.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1b259e27631482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9c8edc951c041e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80a983511a04b9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eaf8d4b834d40d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b2f9ad596ac4c7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11f132eed66408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9DA45EC-3168-4B56-8662-C36C62D7D41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70F2613-FC5F-4F55-B885-7EBDAFB162F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B2AB737-39B4-4B30-9DA7-45E42654894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C16EB29-EB8F-47B6-A9D1-67B4FBF4177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82D7533-FA0B-4C35-800C-EEDED2F4DF0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D90C740-C337-4422-BD7B-BE1FF134A77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FF267B2-10F4-48B6-AA9B-A0385726195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0351759-51C9-4417-A0C6-D6F845E0832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77066F8-0A0E-4BAD-9044-E68C832A63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315E4D3-4868-4362-8CFE-C930126AC24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952c42bfda040b6" /><Relationship Type="http://schemas.openxmlformats.org/officeDocument/2006/relationships/slideLayout" Target="/ppt/slideLayouts/slideLayout1.xml" Id="Rce3b8a72a0574965" /><Relationship Type="http://schemas.openxmlformats.org/officeDocument/2006/relationships/slideLayout" Target="/ppt/slideLayouts/slideLayout2.xml" Id="R7e55770d94304d0d" /><Relationship Type="http://schemas.openxmlformats.org/officeDocument/2006/relationships/slideLayout" Target="/ppt/slideLayouts/slideLayout3.xml" Id="Red348e8bff4e4bc5" /><Relationship Type="http://schemas.openxmlformats.org/officeDocument/2006/relationships/slideLayout" Target="/ppt/slideLayouts/slideLayout4.xml" Id="R6daa3586f95a469d" /><Relationship Type="http://schemas.openxmlformats.org/officeDocument/2006/relationships/slideLayout" Target="/ppt/slideLayouts/slideLayout5.xml" Id="Rfd4af4bd7fd54f6f" /><Relationship Type="http://schemas.openxmlformats.org/officeDocument/2006/relationships/slideLayout" Target="/ppt/slideLayouts/slideLayout6.xml" Id="R0cf2530274614b5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e3b8a72a0574965"/>
    <p:sldLayoutId xmlns:r="http://schemas.openxmlformats.org/officeDocument/2006/relationships" id="2147483650" r:id="R7e55770d94304d0d"/>
    <p:sldLayoutId xmlns:r="http://schemas.openxmlformats.org/officeDocument/2006/relationships" id="2147483651" r:id="Red348e8bff4e4bc5"/>
    <p:sldLayoutId xmlns:r="http://schemas.openxmlformats.org/officeDocument/2006/relationships" id="2147483652" r:id="R6daa3586f95a469d"/>
    <p:sldLayoutId xmlns:r="http://schemas.openxmlformats.org/officeDocument/2006/relationships" id="2147483653" r:id="Rfd4af4bd7fd54f6f"/>
    <p:sldLayoutId xmlns:r="http://schemas.openxmlformats.org/officeDocument/2006/relationships" id="2147483654" r:id="R0cf2530274614b5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1ff92b1c73f43ab" /><Relationship Type="http://schemas.openxmlformats.org/officeDocument/2006/relationships/image" Target="/ppt/media/image.png" Id="R7e1c0f3f44f040ab" /><Relationship Type="http://schemas.openxmlformats.org/officeDocument/2006/relationships/notesSlide" Target="/ppt/notesSlides/notesSlide1.xml" Id="R536cb6301d7a4c1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f714da8ba724587" /><Relationship Type="http://schemas.openxmlformats.org/officeDocument/2006/relationships/notesSlide" Target="/ppt/notesSlides/notesSlide2.xml" Id="R408f53ee5c344a8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84412ab1a434c67" /><Relationship Type="http://schemas.openxmlformats.org/officeDocument/2006/relationships/image" Target="/ppt/media/image.jpeg" Id="R8f38b185f3974c5a" /><Relationship Type="http://schemas.openxmlformats.org/officeDocument/2006/relationships/notesSlide" Target="/ppt/notesSlides/notesSlide3.xml" Id="Re9972eda54ec434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a9bad09109148b5" /><Relationship Type="http://schemas.openxmlformats.org/officeDocument/2006/relationships/notesSlide" Target="/ppt/notesSlides/notesSlide4.xml" Id="R5c5c197bc3cb492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fd5150408ca42f0" /><Relationship Type="http://schemas.openxmlformats.org/officeDocument/2006/relationships/image" Target="/ppt/media/image2.jpeg" Id="R4b4df427bf5448c4" /><Relationship Type="http://schemas.openxmlformats.org/officeDocument/2006/relationships/image" Target="/ppt/media/image3.jpeg" Id="R1890e4cd37cf4180" /><Relationship Type="http://schemas.openxmlformats.org/officeDocument/2006/relationships/notesSlide" Target="/ppt/notesSlides/notesSlide5.xml" Id="R5337d623c76140d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5858c1c83324414" /><Relationship Type="http://schemas.openxmlformats.org/officeDocument/2006/relationships/image" Target="/ppt/media/image4.jpeg" Id="Rdae2327ed49544ec" /><Relationship Type="http://schemas.openxmlformats.org/officeDocument/2006/relationships/notesSlide" Target="/ppt/notesSlides/notesSlide6.xml" Id="R17b4f6f06fcb426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d3300d165fb4312" /><Relationship Type="http://schemas.openxmlformats.org/officeDocument/2006/relationships/notesSlide" Target="/ppt/notesSlides/notesSlide7.xml" Id="R3f9b021cac5142f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39b5e7e1e144b4c" /><Relationship Type="http://schemas.openxmlformats.org/officeDocument/2006/relationships/notesSlide" Target="/ppt/notesSlides/notesSlide8.xml" Id="R82f008d347854f0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de80589b3b943f5" /><Relationship Type="http://schemas.openxmlformats.org/officeDocument/2006/relationships/image" Target="/ppt/media/image5.jpeg" Id="R0db0712d32a042d8" /><Relationship Type="http://schemas.openxmlformats.org/officeDocument/2006/relationships/image" Target="/ppt/media/image6.jpeg" Id="Rd789beac48ea4fbe" /><Relationship Type="http://schemas.openxmlformats.org/officeDocument/2006/relationships/notesSlide" Target="/ppt/notesSlides/notesSlide9.xml" Id="Rf8487ba63ea34a6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92dc6cf9ce74e54" /><Relationship Type="http://schemas.openxmlformats.org/officeDocument/2006/relationships/notesSlide" Target="/ppt/notesSlides/notesSlide10.xml" Id="R4f3087cea04c4bd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a390492a728429b" /><Relationship Type="http://schemas.openxmlformats.org/officeDocument/2006/relationships/notesSlide" Target="/ppt/notesSlides/notesSlide11.xml" Id="R544d35aa40f0400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dc2ddfc24e84366" /><Relationship Type="http://schemas.openxmlformats.org/officeDocument/2006/relationships/image" Target="/ppt/media/image7.jpeg" Id="Re1d9ce64ecf6471a" /><Relationship Type="http://schemas.openxmlformats.org/officeDocument/2006/relationships/image" Target="/ppt/media/image8.jpeg" Id="Ra3dfab6540244c41" /><Relationship Type="http://schemas.openxmlformats.org/officeDocument/2006/relationships/notesSlide" Target="/ppt/notesSlides/notesSlide12.xml" Id="R4e95ee9fb732444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ebab88f5489479e" /><Relationship Type="http://schemas.openxmlformats.org/officeDocument/2006/relationships/notesSlide" Target="/ppt/notesSlides/notesSlide13.xml" Id="R32ff666d53a24e9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7360e36f42c46f1" /><Relationship Type="http://schemas.openxmlformats.org/officeDocument/2006/relationships/notesSlide" Target="/ppt/notesSlides/notesSlide14.xml" Id="R0e468f058bcb474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8b18434c83b4551" /><Relationship Type="http://schemas.openxmlformats.org/officeDocument/2006/relationships/image" Target="/ppt/media/image9.jpeg" Id="R89be6c487bc544ea" /><Relationship Type="http://schemas.openxmlformats.org/officeDocument/2006/relationships/notesSlide" Target="/ppt/notesSlides/notesSlide15.xml" Id="Ra1e3091509704de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842366fb72644ca" /><Relationship Type="http://schemas.openxmlformats.org/officeDocument/2006/relationships/notesSlide" Target="/ppt/notesSlides/notesSlide16.xml" Id="R8c054231300f4aa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404cff9d9334b2d" /><Relationship Type="http://schemas.openxmlformats.org/officeDocument/2006/relationships/notesSlide" Target="/ppt/notesSlides/notesSlide17.xml" Id="Re2b08d4a8e2a470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fc6222b0d774e93" /><Relationship Type="http://schemas.openxmlformats.org/officeDocument/2006/relationships/image" Target="/ppt/media/image10.jpeg" Id="R79d29b2598d64b63" /><Relationship Type="http://schemas.openxmlformats.org/officeDocument/2006/relationships/notesSlide" Target="/ppt/notesSlides/notesSlide18.xml" Id="R675b22218e6240f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02491625c6240b6" /><Relationship Type="http://schemas.openxmlformats.org/officeDocument/2006/relationships/notesSlide" Target="/ppt/notesSlides/notesSlide19.xml" Id="R1f7a89f4de2e4a9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cd43d3647ca4246" /><Relationship Type="http://schemas.openxmlformats.org/officeDocument/2006/relationships/notesSlide" Target="/ppt/notesSlides/notesSlide20.xml" Id="Reab84ac16540423e" /></Relationships>
</file>

<file path=ppt/slides/slide1.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8DEDA84-E8B8-499D-9869-2EEDCE933546}"/>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73728"/>
                </a:solidFill>
                <a:latin typeface="Arial"/>
                <a:ea typeface="Arial"/>
                <a:cs typeface="Arial"/>
              </a:defRPr>
            </a:defPPr>
          </a:lstStyle>
          <a:p xmlns:a="http://schemas.openxmlformats.org/drawingml/2006/main">
            <a:pPr>
              <a:buNone/>
              <a:defRPr sz="3300" b="1">
                <a:solidFill>
                  <a:srgbClr val="173728"/>
                </a:solidFill>
                <a:latin typeface="Arial"/>
                <a:ea typeface="Arial"/>
                <a:cs typeface="Arial"/>
              </a:defRPr>
            </a:pPr>
            <a:r>
              <a:rPr sz="3300" b="1">
                <a:solidFill>
                  <a:srgbClr val="173728"/>
                </a:solidFill>
                <a:latin typeface="Arial"/>
                <a:ea typeface="Arial"/>
                <a:cs typeface="Arial"/>
              </a:rPr>
              <a:t>Zada Pharmacy</a:t>
            </a:r>
          </a:p>
        </p:txBody>
      </p:sp>
      <p:sp>
        <p:nvSpPr>
          <p:cNvPr id="2" name="">
            <a:extLst xmlns:a="http://schemas.openxmlformats.org/drawingml/2006/main">
              <a:ext uri="{FF2B5EF4-FFF2-40B4-BE49-F238E27FC236}">
                <a16:creationId xmlns:a16="http://schemas.microsoft.com/office/drawing/2014/main" id="{1398F14C-B669-4529-9292-6BF66D318395}"/>
              </a:ext>
            </a:extLst>
          </p:cNvPr>
          <p:cNvSpPr>
            <a:spLocks xmlns:a="http://schemas.openxmlformats.org/drawingml/2006/main" noGrp="1"/>
          </p:cNvSpPr>
          <p:nvPr/>
        </p:nvSpPr>
        <p:spPr>
          <a:xfrm xmlns:a="http://schemas.openxmlformats.org/drawingml/2006/main">
            <a:off x="10953750" y="62484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06359"/>
                </a:solidFill>
                <a:latin typeface="Arial"/>
                <a:ea typeface="Arial"/>
                <a:cs typeface="Arial"/>
              </a:defRPr>
            </a:defPPr>
          </a:lstStyle>
          <a:p xmlns:a="http://schemas.openxmlformats.org/drawingml/2006/main">
            <a:pPr>
              <a:buNone/>
              <a:defRPr sz="1275" b="0">
                <a:solidFill>
                  <a:srgbClr val="506359"/>
                </a:solidFill>
                <a:latin typeface="Arial"/>
                <a:ea typeface="Arial"/>
                <a:cs typeface="Arial"/>
              </a:defRPr>
            </a:pPr>
            <a:r>
              <a:rPr sz="1275" b="0">
                <a:solidFill>
                  <a:srgbClr val="506359"/>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AC7AC430-60D0-4F8D-BB18-1A28AE3F519B}"/>
              </a:ext>
            </a:extLst>
          </p:cNvPr>
          <p:cNvSpPr>
            <a:spLocks xmlns:a="http://schemas.openxmlformats.org/drawingml/2006/main" noGrp="1"/>
          </p:cNvSpPr>
          <p:nvPr/>
        </p:nvSpPr>
        <p:spPr>
          <a:xfrm xmlns:a="http://schemas.openxmlformats.org/drawingml/2006/main">
            <a:off x="666750" y="1914525"/>
            <a:ext cx="619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450" b="1">
                <a:solidFill>
                  <a:srgbClr val="4F7D28"/>
                </a:solidFill>
                <a:latin typeface="Arial"/>
                <a:ea typeface="Arial"/>
                <a:cs typeface="Arial"/>
              </a:defRPr>
            </a:defPPr>
          </a:lstStyle>
          <a:p xmlns:a="http://schemas.openxmlformats.org/drawingml/2006/main">
            <a:pPr>
              <a:buNone/>
              <a:defRPr sz="3450" b="1">
                <a:solidFill>
                  <a:srgbClr val="4F7D28"/>
                </a:solidFill>
                <a:latin typeface="Arial"/>
                <a:ea typeface="Arial"/>
                <a:cs typeface="Arial"/>
              </a:defRPr>
            </a:pPr>
            <a:r>
              <a:rPr sz="3450" b="1">
                <a:solidFill>
                  <a:srgbClr val="4F7D28"/>
                </a:solidFill>
                <a:latin typeface="Arial"/>
                <a:ea typeface="Arial"/>
                <a:cs typeface="Arial"/>
              </a:rPr>
              <a:t>Website presentation</a:t>
            </a:r>
          </a:p>
        </p:txBody>
      </p:sp>
      <p:sp>
        <p:nvSpPr>
          <p:cNvPr id="4" name="">
            <a:extLst xmlns:a="http://schemas.openxmlformats.org/drawingml/2006/main">
              <a:ext uri="{FF2B5EF4-FFF2-40B4-BE49-F238E27FC236}">
                <a16:creationId xmlns:a16="http://schemas.microsoft.com/office/drawing/2014/main" id="{29C7BF19-D053-4259-849C-59965033CDA0}"/>
              </a:ext>
            </a:extLst>
          </p:cNvPr>
          <p:cNvSpPr>
            <a:spLocks xmlns:a="http://schemas.openxmlformats.org/drawingml/2006/main" noGrp="1"/>
          </p:cNvSpPr>
          <p:nvPr/>
        </p:nvSpPr>
        <p:spPr>
          <a:xfrm xmlns:a="http://schemas.openxmlformats.org/drawingml/2006/main">
            <a:off x="666750" y="2981325"/>
            <a:ext cx="619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3728"/>
                </a:solidFill>
                <a:latin typeface="Arial"/>
                <a:ea typeface="Arial"/>
                <a:cs typeface="Arial"/>
              </a:defRPr>
            </a:defPPr>
          </a:lstStyle>
          <a:p xmlns:a="http://schemas.openxmlformats.org/drawingml/2006/main">
            <a:pPr>
              <a:buNone/>
              <a:defRPr sz="2175" b="0">
                <a:solidFill>
                  <a:srgbClr val="173728"/>
                </a:solidFill>
                <a:latin typeface="Arial"/>
                <a:ea typeface="Arial"/>
                <a:cs typeface="Arial"/>
              </a:defRPr>
            </a:pPr>
            <a:r>
              <a:rPr sz="2175" b="0">
                <a:solidFill>
                  <a:srgbClr val="173728"/>
                </a:solidFill>
                <a:latin typeface="Arial"/>
                <a:ea typeface="Arial"/>
                <a:cs typeface="Arial"/>
              </a:rPr>
              <a:t>Online shopping and prescription submissions</a:t>
            </a:r>
          </a:p>
          <a:p xmlns:a="http://schemas.openxmlformats.org/drawingml/2006/main">
            <a:pPr>
              <a:buNone/>
              <a:defRPr sz="2175" b="0">
                <a:solidFill>
                  <a:srgbClr val="173728"/>
                </a:solidFill>
                <a:latin typeface="Arial"/>
                <a:ea typeface="Arial"/>
                <a:cs typeface="Arial"/>
              </a:defRPr>
            </a:pPr>
            <a:r>
              <a:rPr sz="2175" b="0">
                <a:solidFill>
                  <a:srgbClr val="173728"/>
                </a:solidFill>
                <a:latin typeface="Arial"/>
                <a:ea typeface="Arial"/>
                <a:cs typeface="Arial"/>
              </a:rPr>
              <a:t>with a connected store administration system</a:t>
            </a:r>
          </a:p>
        </p:txBody>
      </p:sp>
      <p:sp>
        <p:nvSpPr>
          <p:cNvPr id="5" name="">
            <a:extLst xmlns:a="http://schemas.openxmlformats.org/drawingml/2006/main">
              <a:ext uri="{FF2B5EF4-FFF2-40B4-BE49-F238E27FC236}">
                <a16:creationId xmlns:a16="http://schemas.microsoft.com/office/drawing/2014/main" id="{57408F0C-9EDA-409E-8059-4A1C0D86ACAC}"/>
              </a:ext>
            </a:extLst>
          </p:cNvPr>
          <p:cNvSpPr>
            <a:spLocks xmlns:a="http://schemas.openxmlformats.org/drawingml/2006/main" noGrp="1"/>
          </p:cNvSpPr>
          <p:nvPr/>
        </p:nvSpPr>
        <p:spPr>
          <a:xfrm xmlns:a="http://schemas.openxmlformats.org/drawingml/2006/main">
            <a:off x="666750" y="5543550"/>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06359"/>
                </a:solidFill>
                <a:latin typeface="Arial"/>
                <a:ea typeface="Arial"/>
                <a:cs typeface="Arial"/>
              </a:defRPr>
            </a:defPPr>
          </a:lstStyle>
          <a:p xmlns:a="http://schemas.openxmlformats.org/drawingml/2006/main">
            <a:pPr>
              <a:buNone/>
              <a:defRPr sz="1575" b="0">
                <a:solidFill>
                  <a:srgbClr val="506359"/>
                </a:solidFill>
                <a:latin typeface="Arial"/>
                <a:ea typeface="Arial"/>
                <a:cs typeface="Arial"/>
              </a:defRPr>
            </a:pPr>
            <a:r>
              <a:rPr sz="1575" b="0">
                <a:solidFill>
                  <a:srgbClr val="506359"/>
                </a:solidFill>
                <a:latin typeface="Arial"/>
                <a:ea typeface="Arial"/>
                <a:cs typeface="Arial"/>
              </a:rPr>
              <a:t>18 October 2026</a:t>
            </a:r>
          </a:p>
        </p:txBody>
      </p:sp>
      <p:pic>
        <p:nvPicPr>
          <p:cNvPr id="6" name="">
            <a:extLst xmlns:a="http://schemas.openxmlformats.org/drawingml/2006/main">
              <a:ext uri="{FF2B5EF4-FFF2-40B4-BE49-F238E27FC236}">
                <a16:creationId xmlns:a16="http://schemas.microsoft.com/office/drawing/2014/main" id="{B47803BB-61D9-40C2-8624-BEEE686B2633}"/>
              </a:ext>
            </a:extLst>
          </p:cNvPr>
          <p:cNvPicPr>
            <a:picLocks xmlns:a="http://schemas.openxmlformats.org/drawingml/2006/main" noChangeAspect="1"/>
          </p:cNvPicPr>
          <p:nvPr/>
        </p:nvPicPr>
        <p:blipFill>
          <a:blip xmlns:r="http://schemas.openxmlformats.org/officeDocument/2006/relationships" xmlns:a="http://schemas.openxmlformats.org/drawingml/2006/main" r:embed="R7e1c0f3f44f040ab"/>
          <a:stretch xmlns:a="http://schemas.openxmlformats.org/drawingml/2006/main"/>
        </p:blipFill>
        <p:spPr>
          <a:xfrm xmlns:a="http://schemas.openxmlformats.org/drawingml/2006/main">
            <a:off x="8120743" y="2047875"/>
            <a:ext cx="2999014" cy="2762250"/>
          </a:xfrm>
          <a:prstGeom xmlns:a="http://schemas.openxmlformats.org/drawingml/2006/main" prst="rect">
            <a:avLst/>
          </a:prstGeom>
        </p:spPr>
      </p:pic>
    </p:spTree>
    <p:extLst>
      <p:ext uri="{BB962C8B-B14F-4D97-AF65-F5344CB8AC3E}">
        <p14:creationId xmlns:p14="http://schemas.microsoft.com/office/powerpoint/2010/main" val="236000548"/>
      </p:ext>
    </p:extLst>
  </p:cSld>
</p:sld>
</file>

<file path=ppt/slides/slide2.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8B98F1A-B037-4D45-9855-5C70A82AB6C2}"/>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73728"/>
                </a:solidFill>
                <a:latin typeface="Arial"/>
                <a:ea typeface="Arial"/>
                <a:cs typeface="Arial"/>
              </a:defRPr>
            </a:defPPr>
          </a:lstStyle>
          <a:p xmlns:a="http://schemas.openxmlformats.org/drawingml/2006/main">
            <a:pPr>
              <a:buNone/>
              <a:defRPr sz="3300" b="1">
                <a:solidFill>
                  <a:srgbClr val="173728"/>
                </a:solidFill>
                <a:latin typeface="Arial"/>
                <a:ea typeface="Arial"/>
                <a:cs typeface="Arial"/>
              </a:defRPr>
            </a:pPr>
            <a:r>
              <a:rPr sz="3300" b="1">
                <a:solidFill>
                  <a:srgbClr val="173728"/>
                </a:solidFill>
                <a:latin typeface="Arial"/>
                <a:ea typeface="Arial"/>
                <a:cs typeface="Arial"/>
              </a:rPr>
              <a:t>Website scope</a:t>
            </a:r>
          </a:p>
        </p:txBody>
      </p:sp>
      <p:sp>
        <p:nvSpPr>
          <p:cNvPr id="2" name="">
            <a:extLst xmlns:a="http://schemas.openxmlformats.org/drawingml/2006/main">
              <a:ext uri="{FF2B5EF4-FFF2-40B4-BE49-F238E27FC236}">
                <a16:creationId xmlns:a16="http://schemas.microsoft.com/office/drawing/2014/main" id="{4D6EDD7B-47D1-4721-BAFB-A56151D27F8C}"/>
              </a:ext>
            </a:extLst>
          </p:cNvPr>
          <p:cNvSpPr>
            <a:spLocks xmlns:a="http://schemas.openxmlformats.org/drawingml/2006/main" noGrp="1"/>
          </p:cNvSpPr>
          <p:nvPr/>
        </p:nvSpPr>
        <p:spPr>
          <a:xfrm xmlns:a="http://schemas.openxmlformats.org/drawingml/2006/main">
            <a:off x="10953750" y="62484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06359"/>
                </a:solidFill>
                <a:latin typeface="Arial"/>
                <a:ea typeface="Arial"/>
                <a:cs typeface="Arial"/>
              </a:defRPr>
            </a:defPPr>
          </a:lstStyle>
          <a:p xmlns:a="http://schemas.openxmlformats.org/drawingml/2006/main">
            <a:pPr>
              <a:buNone/>
              <a:defRPr sz="1275" b="0">
                <a:solidFill>
                  <a:srgbClr val="506359"/>
                </a:solidFill>
                <a:latin typeface="Arial"/>
                <a:ea typeface="Arial"/>
                <a:cs typeface="Arial"/>
              </a:defRPr>
            </a:pPr>
            <a:r>
              <a:rPr sz="1275" b="0">
                <a:solidFill>
                  <a:srgbClr val="506359"/>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7811AB15-65B3-4946-AC9F-975FD98CD9CC}"/>
              </a:ext>
            </a:extLst>
          </p:cNvPr>
          <p:cNvSpPr>
            <a:spLocks xmlns:a="http://schemas.openxmlformats.org/drawingml/2006/main" noGrp="1"/>
          </p:cNvSpPr>
          <p:nvPr/>
        </p:nvSpPr>
        <p:spPr>
          <a:xfrm xmlns:a="http://schemas.openxmlformats.org/drawingml/2006/main">
            <a:off x="666750" y="1790700"/>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4F7D28"/>
                </a:solidFill>
                <a:latin typeface="Arial"/>
                <a:ea typeface="Arial"/>
                <a:cs typeface="Arial"/>
              </a:defRPr>
            </a:defPPr>
          </a:lstStyle>
          <a:p xmlns:a="http://schemas.openxmlformats.org/drawingml/2006/main">
            <a:pPr>
              <a:buNone/>
              <a:defRPr sz="2175" b="1">
                <a:solidFill>
                  <a:srgbClr val="4F7D28"/>
                </a:solidFill>
                <a:latin typeface="Arial"/>
                <a:ea typeface="Arial"/>
                <a:cs typeface="Arial"/>
              </a:defRPr>
            </a:pPr>
            <a:r>
              <a:rPr sz="2175" b="1">
                <a:solidFill>
                  <a:srgbClr val="4F7D28"/>
                </a:solidFill>
                <a:latin typeface="Arial"/>
                <a:ea typeface="Arial"/>
                <a:cs typeface="Arial"/>
              </a:rPr>
              <a:t>Customer website</a:t>
            </a:r>
          </a:p>
        </p:txBody>
      </p:sp>
      <p:sp>
        <p:nvSpPr>
          <p:cNvPr id="4" name="">
            <a:extLst xmlns:a="http://schemas.openxmlformats.org/drawingml/2006/main">
              <a:ext uri="{FF2B5EF4-FFF2-40B4-BE49-F238E27FC236}">
                <a16:creationId xmlns:a16="http://schemas.microsoft.com/office/drawing/2014/main" id="{24DED9AA-8F3B-42C3-A339-12D23351E1DB}"/>
              </a:ext>
            </a:extLst>
          </p:cNvPr>
          <p:cNvSpPr>
            <a:spLocks xmlns:a="http://schemas.openxmlformats.org/drawingml/2006/main" noGrp="1"/>
          </p:cNvSpPr>
          <p:nvPr/>
        </p:nvSpPr>
        <p:spPr>
          <a:xfrm xmlns:a="http://schemas.openxmlformats.org/drawingml/2006/main">
            <a:off x="666750" y="2457450"/>
            <a:ext cx="495300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73728"/>
                </a:solidFill>
                <a:latin typeface="Arial"/>
                <a:ea typeface="Arial"/>
                <a:cs typeface="Arial"/>
              </a:defRPr>
            </a:defPPr>
          </a:lstStyle>
          <a:p xmlns:a="http://schemas.openxmlformats.org/drawingml/2006/main">
            <a:pPr marL="254000" indent="-127000">
              <a:spcAft>
                <a:spcPts val="1700"/>
              </a:spcAft>
              <a:buChar char="•"/>
              <a:defRPr sz="1950" b="0">
                <a:solidFill>
                  <a:srgbClr val="173728"/>
                </a:solidFill>
                <a:latin typeface="Arial"/>
                <a:ea typeface="Arial"/>
                <a:cs typeface="Arial"/>
              </a:defRPr>
            </a:pPr>
            <a:r>
              <a:rPr sz="1950">
                <a:solidFill>
                  <a:srgbClr val="173728"/>
                </a:solidFill>
                <a:latin typeface="Arial"/>
                <a:ea typeface="Arial"/>
                <a:cs typeface="Arial"/>
              </a:rPr>
              <a:t>Product browsing and shopping</a:t>
            </a:r>
          </a:p>
          <a:p xmlns:a="http://schemas.openxmlformats.org/drawingml/2006/main">
            <a:pPr marL="254000" indent="-127000">
              <a:spcAft>
                <a:spcPts val="1700"/>
              </a:spcAft>
              <a:buChar char="•"/>
              <a:defRPr sz="1950" b="0">
                <a:solidFill>
                  <a:srgbClr val="173728"/>
                </a:solidFill>
                <a:latin typeface="Arial"/>
                <a:ea typeface="Arial"/>
                <a:cs typeface="Arial"/>
              </a:defRPr>
            </a:pPr>
            <a:r>
              <a:rPr sz="1950">
                <a:solidFill>
                  <a:srgbClr val="173728"/>
                </a:solidFill>
                <a:latin typeface="Arial"/>
                <a:ea typeface="Arial"/>
                <a:cs typeface="Arial"/>
              </a:rPr>
              <a:t>Accounts, addresses, and wishlists</a:t>
            </a:r>
          </a:p>
          <a:p xmlns:a="http://schemas.openxmlformats.org/drawingml/2006/main">
            <a:pPr marL="254000" indent="-127000">
              <a:spcAft>
                <a:spcPts val="1700"/>
              </a:spcAft>
              <a:buChar char="•"/>
              <a:defRPr sz="1950" b="0">
                <a:solidFill>
                  <a:srgbClr val="173728"/>
                </a:solidFill>
                <a:latin typeface="Arial"/>
                <a:ea typeface="Arial"/>
                <a:cs typeface="Arial"/>
              </a:defRPr>
            </a:pPr>
            <a:r>
              <a:rPr sz="1950">
                <a:solidFill>
                  <a:srgbClr val="173728"/>
                </a:solidFill>
                <a:latin typeface="Arial"/>
                <a:ea typeface="Arial"/>
                <a:cs typeface="Arial"/>
              </a:rPr>
              <a:t>Order history and cancellations</a:t>
            </a:r>
          </a:p>
          <a:p xmlns:a="http://schemas.openxmlformats.org/drawingml/2006/main">
            <a:pPr marL="254000" indent="-127000">
              <a:spcAft>
                <a:spcPts val="1700"/>
              </a:spcAft>
              <a:buChar char="•"/>
              <a:defRPr sz="1950" b="0">
                <a:solidFill>
                  <a:srgbClr val="173728"/>
                </a:solidFill>
                <a:latin typeface="Arial"/>
                <a:ea typeface="Arial"/>
                <a:cs typeface="Arial"/>
              </a:defRPr>
            </a:pPr>
            <a:r>
              <a:rPr sz="1950">
                <a:solidFill>
                  <a:srgbClr val="173728"/>
                </a:solidFill>
                <a:latin typeface="Arial"/>
                <a:ea typeface="Arial"/>
                <a:cs typeface="Arial"/>
              </a:rPr>
              <a:t>Prescription image submissions</a:t>
            </a:r>
          </a:p>
        </p:txBody>
      </p:sp>
      <p:sp>
        <p:nvSpPr>
          <p:cNvPr id="5" name="">
            <a:extLst xmlns:a="http://schemas.openxmlformats.org/drawingml/2006/main">
              <a:ext uri="{FF2B5EF4-FFF2-40B4-BE49-F238E27FC236}">
                <a16:creationId xmlns:a16="http://schemas.microsoft.com/office/drawing/2014/main" id="{9C57DCE0-045C-4993-B4AF-E1D2A1F4123F}"/>
              </a:ext>
            </a:extLst>
          </p:cNvPr>
          <p:cNvSpPr>
            <a:spLocks xmlns:a="http://schemas.openxmlformats.org/drawingml/2006/main" noGrp="1"/>
          </p:cNvSpPr>
          <p:nvPr/>
        </p:nvSpPr>
        <p:spPr>
          <a:xfrm xmlns:a="http://schemas.openxmlformats.org/drawingml/2006/main">
            <a:off x="6477000" y="1790700"/>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4F7D28"/>
                </a:solidFill>
                <a:latin typeface="Arial"/>
                <a:ea typeface="Arial"/>
                <a:cs typeface="Arial"/>
              </a:defRPr>
            </a:defPPr>
          </a:lstStyle>
          <a:p xmlns:a="http://schemas.openxmlformats.org/drawingml/2006/main">
            <a:pPr>
              <a:buNone/>
              <a:defRPr sz="2175" b="1">
                <a:solidFill>
                  <a:srgbClr val="4F7D28"/>
                </a:solidFill>
                <a:latin typeface="Arial"/>
                <a:ea typeface="Arial"/>
                <a:cs typeface="Arial"/>
              </a:defRPr>
            </a:pPr>
            <a:r>
              <a:rPr sz="2175" b="1">
                <a:solidFill>
                  <a:srgbClr val="4F7D28"/>
                </a:solidFill>
                <a:latin typeface="Arial"/>
                <a:ea typeface="Arial"/>
                <a:cs typeface="Arial"/>
              </a:rPr>
              <a:t>Store administration</a:t>
            </a:r>
          </a:p>
        </p:txBody>
      </p:sp>
      <p:sp>
        <p:nvSpPr>
          <p:cNvPr id="6" name="">
            <a:extLst xmlns:a="http://schemas.openxmlformats.org/drawingml/2006/main">
              <a:ext uri="{FF2B5EF4-FFF2-40B4-BE49-F238E27FC236}">
                <a16:creationId xmlns:a16="http://schemas.microsoft.com/office/drawing/2014/main" id="{ECD49189-5385-47B0-B652-69A728EA5099}"/>
              </a:ext>
            </a:extLst>
          </p:cNvPr>
          <p:cNvSpPr>
            <a:spLocks xmlns:a="http://schemas.openxmlformats.org/drawingml/2006/main" noGrp="1"/>
          </p:cNvSpPr>
          <p:nvPr/>
        </p:nvSpPr>
        <p:spPr>
          <a:xfrm xmlns:a="http://schemas.openxmlformats.org/drawingml/2006/main">
            <a:off x="6477000" y="2457450"/>
            <a:ext cx="495300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73728"/>
                </a:solidFill>
                <a:latin typeface="Arial"/>
                <a:ea typeface="Arial"/>
                <a:cs typeface="Arial"/>
              </a:defRPr>
            </a:defPPr>
          </a:lstStyle>
          <a:p xmlns:a="http://schemas.openxmlformats.org/drawingml/2006/main">
            <a:pPr marL="254000" indent="-127000">
              <a:spcAft>
                <a:spcPts val="1700"/>
              </a:spcAft>
              <a:buChar char="•"/>
              <a:defRPr sz="1950" b="0">
                <a:solidFill>
                  <a:srgbClr val="173728"/>
                </a:solidFill>
                <a:latin typeface="Arial"/>
                <a:ea typeface="Arial"/>
                <a:cs typeface="Arial"/>
              </a:defRPr>
            </a:pPr>
            <a:r>
              <a:rPr sz="1950">
                <a:solidFill>
                  <a:srgbClr val="173728"/>
                </a:solidFill>
                <a:latin typeface="Arial"/>
                <a:ea typeface="Arial"/>
                <a:cs typeface="Arial"/>
              </a:rPr>
              <a:t>Products, stock, and vendors</a:t>
            </a:r>
          </a:p>
          <a:p xmlns:a="http://schemas.openxmlformats.org/drawingml/2006/main">
            <a:pPr marL="254000" indent="-127000">
              <a:spcAft>
                <a:spcPts val="1700"/>
              </a:spcAft>
              <a:buChar char="•"/>
              <a:defRPr sz="1950" b="0">
                <a:solidFill>
                  <a:srgbClr val="173728"/>
                </a:solidFill>
                <a:latin typeface="Arial"/>
                <a:ea typeface="Arial"/>
                <a:cs typeface="Arial"/>
              </a:defRPr>
            </a:pPr>
            <a:r>
              <a:rPr sz="1950">
                <a:solidFill>
                  <a:srgbClr val="173728"/>
                </a:solidFill>
                <a:latin typeface="Arial"/>
                <a:ea typeface="Arial"/>
                <a:cs typeface="Arial"/>
              </a:rPr>
              <a:t>Order and prescription processing</a:t>
            </a:r>
          </a:p>
          <a:p xmlns:a="http://schemas.openxmlformats.org/drawingml/2006/main">
            <a:pPr marL="254000" indent="-127000">
              <a:spcAft>
                <a:spcPts val="1700"/>
              </a:spcAft>
              <a:buChar char="•"/>
              <a:defRPr sz="1950" b="0">
                <a:solidFill>
                  <a:srgbClr val="173728"/>
                </a:solidFill>
                <a:latin typeface="Arial"/>
                <a:ea typeface="Arial"/>
                <a:cs typeface="Arial"/>
              </a:defRPr>
            </a:pPr>
            <a:r>
              <a:rPr sz="1950">
                <a:solidFill>
                  <a:srgbClr val="173728"/>
                </a:solidFill>
                <a:latin typeface="Arial"/>
                <a:ea typeface="Arial"/>
                <a:cs typeface="Arial"/>
              </a:rPr>
              <a:t>Promotions and delivery settings</a:t>
            </a:r>
          </a:p>
          <a:p xmlns:a="http://schemas.openxmlformats.org/drawingml/2006/main">
            <a:pPr marL="254000" indent="-127000">
              <a:spcAft>
                <a:spcPts val="1700"/>
              </a:spcAft>
              <a:buChar char="•"/>
              <a:defRPr sz="1950" b="0">
                <a:solidFill>
                  <a:srgbClr val="173728"/>
                </a:solidFill>
                <a:latin typeface="Arial"/>
                <a:ea typeface="Arial"/>
                <a:cs typeface="Arial"/>
              </a:defRPr>
            </a:pPr>
            <a:r>
              <a:rPr sz="1950">
                <a:solidFill>
                  <a:srgbClr val="173728"/>
                </a:solidFill>
                <a:latin typeface="Arial"/>
                <a:ea typeface="Arial"/>
                <a:cs typeface="Arial"/>
              </a:rPr>
              <a:t>Homepage and navigation editing</a:t>
            </a:r>
          </a:p>
        </p:txBody>
      </p:sp>
    </p:spTree>
    <p:extLst>
      <p:ext uri="{BB962C8B-B14F-4D97-AF65-F5344CB8AC3E}">
        <p14:creationId xmlns:p14="http://schemas.microsoft.com/office/powerpoint/2010/main" val="1504116723"/>
      </p:ext>
    </p:extLst>
  </p:cSld>
</p:sld>
</file>

<file path=ppt/slides/slide3.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AC458C1-C788-4664-A4D3-0D32BEAB1EC3}"/>
              </a:ext>
            </a:extLst>
          </p:cNvPr>
          <p:cNvSpPr>
            <a:spLocks xmlns:a="http://schemas.openxmlformats.org/drawingml/2006/main" noGrp="1"/>
          </p:cNvSpPr>
          <p:nvPr/>
        </p:nvSpPr>
        <p:spPr>
          <a:xfrm xmlns:a="http://schemas.openxmlformats.org/drawingml/2006/main">
            <a:off x="619125" y="3619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173728"/>
                </a:solidFill>
                <a:latin typeface="Arial"/>
                <a:ea typeface="Arial"/>
                <a:cs typeface="Arial"/>
              </a:defRPr>
            </a:defPPr>
          </a:lstStyle>
          <a:p xmlns:a="http://schemas.openxmlformats.org/drawingml/2006/main">
            <a:pPr>
              <a:defRPr sz="2850" b="1">
                <a:solidFill>
                  <a:srgbClr val="173728"/>
                </a:solidFill>
                <a:latin typeface="Arial"/>
                <a:ea typeface="Arial"/>
                <a:cs typeface="Arial"/>
              </a:defRPr>
            </a:pPr>
            <a:r>
              <a:rPr sz="2850" b="1">
                <a:solidFill>
                  <a:srgbClr val="173728"/>
                </a:solidFill>
                <a:latin typeface="Arial"/>
                <a:ea typeface="Arial"/>
                <a:cs typeface="Arial"/>
              </a:rPr>
              <a:t>Storefront sections on desktop</a:t>
            </a:r>
          </a:p>
        </p:txBody>
      </p:sp>
      <p:pic>
        <p:nvPicPr>
          <p:cNvPr id="2" name="">
            <a:extLst xmlns:a="http://schemas.openxmlformats.org/drawingml/2006/main">
              <a:ext uri="{FF2B5EF4-FFF2-40B4-BE49-F238E27FC236}">
                <a16:creationId xmlns:a16="http://schemas.microsoft.com/office/drawing/2014/main" id="{555348E4-159F-4F83-8CF3-7E669025C574}"/>
              </a:ext>
            </a:extLst>
          </p:cNvPr>
          <p:cNvPicPr>
            <a:picLocks xmlns:a="http://schemas.openxmlformats.org/drawingml/2006/main" noChangeAspect="1"/>
          </p:cNvPicPr>
          <p:nvPr/>
        </p:nvPicPr>
        <p:blipFill>
          <a:blip xmlns:r="http://schemas.openxmlformats.org/officeDocument/2006/relationships" xmlns:a="http://schemas.openxmlformats.org/drawingml/2006/main" r:embed="R8f38b185f3974c5a"/>
          <a:stretch xmlns:a="http://schemas.openxmlformats.org/drawingml/2006/main"/>
        </p:blipFill>
        <p:spPr>
          <a:xfrm xmlns:a="http://schemas.openxmlformats.org/drawingml/2006/main">
            <a:off x="2172247" y="1200150"/>
            <a:ext cx="7847506" cy="490537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3DEB282-BFEA-4A69-82F5-FE76E7B49F1F}"/>
              </a:ext>
            </a:extLst>
          </p:cNvPr>
          <p:cNvSpPr>
            <a:spLocks xmlns:a="http://schemas.openxmlformats.org/drawingml/2006/main" noGrp="1"/>
          </p:cNvSpPr>
          <p:nvPr/>
        </p:nvSpPr>
        <p:spPr>
          <a:xfrm xmlns:a="http://schemas.openxmlformats.org/drawingml/2006/main">
            <a:off x="619125" y="61912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73728"/>
                </a:solidFill>
                <a:latin typeface="Arial"/>
                <a:ea typeface="Arial"/>
                <a:cs typeface="Arial"/>
              </a:defRPr>
            </a:defPPr>
          </a:lstStyle>
          <a:p xmlns:a="http://schemas.openxmlformats.org/drawingml/2006/main">
            <a:pPr>
              <a:defRPr sz="1500" b="0">
                <a:solidFill>
                  <a:srgbClr val="173728"/>
                </a:solidFill>
                <a:latin typeface="Arial"/>
                <a:ea typeface="Arial"/>
                <a:cs typeface="Arial"/>
              </a:defRPr>
            </a:pPr>
            <a:r>
              <a:rPr sz="1500" b="0">
                <a:solidFill>
                  <a:srgbClr val="173728"/>
                </a:solidFill>
                <a:latin typeface="Arial"/>
                <a:ea typeface="Arial"/>
                <a:cs typeface="Arial"/>
              </a:rPr>
              <a:t>Homepage shopping sections and promotional banners</a:t>
            </a:r>
          </a:p>
        </p:txBody>
      </p:sp>
      <p:sp>
        <p:nvSpPr>
          <p:cNvPr id="4" name="">
            <a:extLst xmlns:a="http://schemas.openxmlformats.org/drawingml/2006/main">
              <a:ext uri="{FF2B5EF4-FFF2-40B4-BE49-F238E27FC236}">
                <a16:creationId xmlns:a16="http://schemas.microsoft.com/office/drawing/2014/main" id="{55BB3FB4-03B4-43B2-91F4-9D7E1E5B3E47}"/>
              </a:ext>
            </a:extLst>
          </p:cNvPr>
          <p:cNvSpPr>
            <a:spLocks xmlns:a="http://schemas.openxmlformats.org/drawingml/2006/main" noGrp="1"/>
          </p:cNvSpPr>
          <p:nvPr/>
        </p:nvSpPr>
        <p:spPr>
          <a:xfrm xmlns:a="http://schemas.openxmlformats.org/drawingml/2006/main">
            <a:off x="619125" y="65341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06359"/>
                </a:solidFill>
                <a:latin typeface="Arial"/>
                <a:ea typeface="Arial"/>
                <a:cs typeface="Arial"/>
              </a:defRPr>
            </a:defPPr>
          </a:lstStyle>
          <a:p xmlns:a="http://schemas.openxmlformats.org/drawingml/2006/main">
            <a:pPr>
              <a:defRPr sz="1200" b="0">
                <a:solidFill>
                  <a:srgbClr val="506359"/>
                </a:solidFill>
                <a:latin typeface="Arial"/>
                <a:ea typeface="Arial"/>
                <a:cs typeface="Arial"/>
              </a:defRPr>
            </a:pPr>
            <a:r>
              <a:rPr sz="1200" b="0">
                <a:solidFill>
                  <a:srgbClr val="506359"/>
                </a:solidFill>
                <a:latin typeface="Arial"/>
                <a:ea typeface="Arial"/>
                <a:cs typeface="Arial"/>
              </a:rPr>
              <a:t>Local demo with sample records and placeholder product images</a:t>
            </a:r>
          </a:p>
        </p:txBody>
      </p:sp>
    </p:spTree>
    <p:extLst>
      <p:ext uri="{BB962C8B-B14F-4D97-AF65-F5344CB8AC3E}">
        <p14:creationId xmlns:p14="http://schemas.microsoft.com/office/powerpoint/2010/main" val="1082307656"/>
      </p:ext>
    </p:extLst>
  </p:cSld>
</p:sld>
</file>

<file path=ppt/slides/slide4.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834A427-666A-412F-826A-8AEF366FE220}"/>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73728"/>
                </a:solidFill>
                <a:latin typeface="Arial"/>
                <a:ea typeface="Arial"/>
                <a:cs typeface="Arial"/>
              </a:defRPr>
            </a:defPPr>
          </a:lstStyle>
          <a:p xmlns:a="http://schemas.openxmlformats.org/drawingml/2006/main">
            <a:pPr>
              <a:buNone/>
              <a:defRPr sz="3300" b="1">
                <a:solidFill>
                  <a:srgbClr val="173728"/>
                </a:solidFill>
                <a:latin typeface="Arial"/>
                <a:ea typeface="Arial"/>
                <a:cs typeface="Arial"/>
              </a:defRPr>
            </a:pPr>
            <a:r>
              <a:rPr sz="3300" b="1">
                <a:solidFill>
                  <a:srgbClr val="173728"/>
                </a:solidFill>
                <a:latin typeface="Arial"/>
                <a:ea typeface="Arial"/>
                <a:cs typeface="Arial"/>
              </a:rPr>
              <a:t>Product discovery</a:t>
            </a:r>
          </a:p>
        </p:txBody>
      </p:sp>
      <p:sp>
        <p:nvSpPr>
          <p:cNvPr id="2" name="">
            <a:extLst xmlns:a="http://schemas.openxmlformats.org/drawingml/2006/main">
              <a:ext uri="{FF2B5EF4-FFF2-40B4-BE49-F238E27FC236}">
                <a16:creationId xmlns:a16="http://schemas.microsoft.com/office/drawing/2014/main" id="{46BD3910-5A9C-41EA-9AB2-BA1F6FF63F56}"/>
              </a:ext>
            </a:extLst>
          </p:cNvPr>
          <p:cNvSpPr>
            <a:spLocks xmlns:a="http://schemas.openxmlformats.org/drawingml/2006/main" noGrp="1"/>
          </p:cNvSpPr>
          <p:nvPr/>
        </p:nvSpPr>
        <p:spPr>
          <a:xfrm xmlns:a="http://schemas.openxmlformats.org/drawingml/2006/main">
            <a:off x="10953750" y="62484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06359"/>
                </a:solidFill>
                <a:latin typeface="Arial"/>
                <a:ea typeface="Arial"/>
                <a:cs typeface="Arial"/>
              </a:defRPr>
            </a:defPPr>
          </a:lstStyle>
          <a:p xmlns:a="http://schemas.openxmlformats.org/drawingml/2006/main">
            <a:pPr>
              <a:buNone/>
              <a:defRPr sz="1275" b="0">
                <a:solidFill>
                  <a:srgbClr val="506359"/>
                </a:solidFill>
                <a:latin typeface="Arial"/>
                <a:ea typeface="Arial"/>
                <a:cs typeface="Arial"/>
              </a:defRPr>
            </a:pPr>
            <a:r>
              <a:rPr sz="1275" b="0">
                <a:solidFill>
                  <a:srgbClr val="506359"/>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8D63D485-97D1-4DBF-BD35-504E5AC6B2EC}"/>
              </a:ext>
            </a:extLst>
          </p:cNvPr>
          <p:cNvSpPr>
            <a:spLocks xmlns:a="http://schemas.openxmlformats.org/drawingml/2006/main" noGrp="1"/>
          </p:cNvSpPr>
          <p:nvPr/>
        </p:nvSpPr>
        <p:spPr>
          <a:xfrm xmlns:a="http://schemas.openxmlformats.org/drawingml/2006/main">
            <a:off x="666750" y="1943100"/>
            <a:ext cx="1057275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3728"/>
                </a:solidFill>
                <a:latin typeface="Arial"/>
                <a:ea typeface="Arial"/>
                <a:cs typeface="Arial"/>
              </a:defRPr>
            </a:defPPr>
          </a:lstStyle>
          <a:p xmlns:a="http://schemas.openxmlformats.org/drawingml/2006/main">
            <a:pPr marL="254000" indent="-127000">
              <a:spcAft>
                <a:spcPts val="1700"/>
              </a:spcAft>
              <a:buChar char="•"/>
              <a:defRPr sz="2175" b="0">
                <a:solidFill>
                  <a:srgbClr val="173728"/>
                </a:solidFill>
                <a:latin typeface="Arial"/>
                <a:ea typeface="Arial"/>
                <a:cs typeface="Arial"/>
              </a:defRPr>
            </a:pPr>
            <a:r>
              <a:rPr sz="2175">
                <a:solidFill>
                  <a:srgbClr val="173728"/>
                </a:solidFill>
                <a:latin typeface="Arial"/>
                <a:ea typeface="Arial"/>
                <a:cs typeface="Arial"/>
              </a:rPr>
              <a:t>Search products with paginated results</a:t>
            </a:r>
          </a:p>
          <a:p xmlns:a="http://schemas.openxmlformats.org/drawingml/2006/main">
            <a:pPr marL="254000" indent="-127000">
              <a:spcAft>
                <a:spcPts val="1700"/>
              </a:spcAft>
              <a:buChar char="•"/>
              <a:defRPr sz="2175" b="0">
                <a:solidFill>
                  <a:srgbClr val="173728"/>
                </a:solidFill>
                <a:latin typeface="Arial"/>
                <a:ea typeface="Arial"/>
                <a:cs typeface="Arial"/>
              </a:defRPr>
            </a:pPr>
            <a:r>
              <a:rPr sz="2175">
                <a:solidFill>
                  <a:srgbClr val="173728"/>
                </a:solidFill>
                <a:latin typeface="Arial"/>
                <a:ea typeface="Arial"/>
                <a:cs typeface="Arial"/>
              </a:rPr>
              <a:t>Switch between product grid and list views</a:t>
            </a:r>
          </a:p>
          <a:p xmlns:a="http://schemas.openxmlformats.org/drawingml/2006/main">
            <a:pPr marL="254000" indent="-127000">
              <a:spcAft>
                <a:spcPts val="1700"/>
              </a:spcAft>
              <a:buChar char="•"/>
              <a:defRPr sz="2175" b="0">
                <a:solidFill>
                  <a:srgbClr val="173728"/>
                </a:solidFill>
                <a:latin typeface="Arial"/>
                <a:ea typeface="Arial"/>
                <a:cs typeface="Arial"/>
              </a:defRPr>
            </a:pPr>
            <a:r>
              <a:rPr sz="2175">
                <a:solidFill>
                  <a:srgbClr val="173728"/>
                </a:solidFill>
                <a:latin typeface="Arial"/>
                <a:ea typeface="Arial"/>
                <a:cs typeface="Arial"/>
              </a:rPr>
              <a:t>View images, descriptions, prices, and stock</a:t>
            </a:r>
          </a:p>
          <a:p xmlns:a="http://schemas.openxmlformats.org/drawingml/2006/main">
            <a:pPr marL="254000" indent="-127000">
              <a:spcAft>
                <a:spcPts val="1700"/>
              </a:spcAft>
              <a:buChar char="•"/>
              <a:defRPr sz="2175" b="0">
                <a:solidFill>
                  <a:srgbClr val="173728"/>
                </a:solidFill>
                <a:latin typeface="Arial"/>
                <a:ea typeface="Arial"/>
                <a:cs typeface="Arial"/>
              </a:defRPr>
            </a:pPr>
            <a:r>
              <a:rPr sz="2175">
                <a:solidFill>
                  <a:srgbClr val="173728"/>
                </a:solidFill>
                <a:latin typeface="Arial"/>
                <a:ea typeface="Arial"/>
                <a:cs typeface="Arial"/>
              </a:rPr>
              <a:t>Read ratings and customer reviews</a:t>
            </a:r>
          </a:p>
          <a:p xmlns:a="http://schemas.openxmlformats.org/drawingml/2006/main">
            <a:pPr marL="254000" indent="-127000">
              <a:spcAft>
                <a:spcPts val="1700"/>
              </a:spcAft>
              <a:buChar char="•"/>
              <a:defRPr sz="2175" b="0">
                <a:solidFill>
                  <a:srgbClr val="173728"/>
                </a:solidFill>
                <a:latin typeface="Arial"/>
                <a:ea typeface="Arial"/>
                <a:cs typeface="Arial"/>
              </a:defRPr>
            </a:pPr>
            <a:r>
              <a:rPr sz="2175">
                <a:solidFill>
                  <a:srgbClr val="173728"/>
                </a:solidFill>
                <a:latin typeface="Arial"/>
                <a:ea typeface="Arial"/>
                <a:cs typeface="Arial"/>
              </a:rPr>
              <a:t>See promotional prices and flash deals</a:t>
            </a:r>
          </a:p>
        </p:txBody>
      </p:sp>
    </p:spTree>
    <p:extLst>
      <p:ext uri="{BB962C8B-B14F-4D97-AF65-F5344CB8AC3E}">
        <p14:creationId xmlns:p14="http://schemas.microsoft.com/office/powerpoint/2010/main" val="1285610293"/>
      </p:ext>
    </p:extLst>
  </p:cSld>
</p:sld>
</file>

<file path=ppt/slides/slide5.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D60AA15-CB37-468E-B3C0-AC73FB273292}"/>
              </a:ext>
            </a:extLst>
          </p:cNvPr>
          <p:cNvSpPr>
            <a:spLocks xmlns:a="http://schemas.openxmlformats.org/drawingml/2006/main" noGrp="1"/>
          </p:cNvSpPr>
          <p:nvPr/>
        </p:nvSpPr>
        <p:spPr>
          <a:xfrm xmlns:a="http://schemas.openxmlformats.org/drawingml/2006/main">
            <a:off x="619125" y="3619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173728"/>
                </a:solidFill>
                <a:latin typeface="Arial"/>
                <a:ea typeface="Arial"/>
                <a:cs typeface="Arial"/>
              </a:defRPr>
            </a:defPPr>
          </a:lstStyle>
          <a:p xmlns:a="http://schemas.openxmlformats.org/drawingml/2006/main">
            <a:pPr>
              <a:defRPr sz="2850" b="1">
                <a:solidFill>
                  <a:srgbClr val="173728"/>
                </a:solidFill>
                <a:latin typeface="Arial"/>
                <a:ea typeface="Arial"/>
                <a:cs typeface="Arial"/>
              </a:defRPr>
            </a:pPr>
            <a:r>
              <a:rPr sz="2850" b="1">
                <a:solidFill>
                  <a:srgbClr val="173728"/>
                </a:solidFill>
                <a:latin typeface="Arial"/>
                <a:ea typeface="Arial"/>
                <a:cs typeface="Arial"/>
              </a:rPr>
              <a:t>Product catalog on desktop and mobile</a:t>
            </a:r>
          </a:p>
        </p:txBody>
      </p:sp>
      <p:sp>
        <p:nvSpPr>
          <p:cNvPr id="2" name="">
            <a:extLst xmlns:a="http://schemas.openxmlformats.org/drawingml/2006/main">
              <a:ext uri="{FF2B5EF4-FFF2-40B4-BE49-F238E27FC236}">
                <a16:creationId xmlns:a16="http://schemas.microsoft.com/office/drawing/2014/main" id="{C0A511B6-7531-4D17-87EF-F6754751C7A1}"/>
              </a:ext>
            </a:extLst>
          </p:cNvPr>
          <p:cNvSpPr>
            <a:spLocks xmlns:a="http://schemas.openxmlformats.org/drawingml/2006/main" noGrp="1"/>
          </p:cNvSpPr>
          <p:nvPr/>
        </p:nvSpPr>
        <p:spPr>
          <a:xfrm xmlns:a="http://schemas.openxmlformats.org/drawingml/2006/main">
            <a:off x="619125" y="1123950"/>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06359"/>
                </a:solidFill>
                <a:latin typeface="Arial"/>
                <a:ea typeface="Arial"/>
                <a:cs typeface="Arial"/>
              </a:defRPr>
            </a:defPPr>
          </a:lstStyle>
          <a:p xmlns:a="http://schemas.openxmlformats.org/drawingml/2006/main">
            <a:pPr>
              <a:defRPr sz="1500" b="0">
                <a:solidFill>
                  <a:srgbClr val="506359"/>
                </a:solidFill>
                <a:latin typeface="Arial"/>
                <a:ea typeface="Arial"/>
                <a:cs typeface="Arial"/>
              </a:defRPr>
            </a:pPr>
            <a:r>
              <a:rPr sz="1500" b="0">
                <a:solidFill>
                  <a:srgbClr val="506359"/>
                </a:solidFill>
                <a:latin typeface="Arial"/>
                <a:ea typeface="Arial"/>
                <a:cs typeface="Arial"/>
              </a:rPr>
              <a:t>Desktop</a:t>
            </a:r>
          </a:p>
        </p:txBody>
      </p:sp>
      <p:sp>
        <p:nvSpPr>
          <p:cNvPr id="3" name="">
            <a:extLst xmlns:a="http://schemas.openxmlformats.org/drawingml/2006/main">
              <a:ext uri="{FF2B5EF4-FFF2-40B4-BE49-F238E27FC236}">
                <a16:creationId xmlns:a16="http://schemas.microsoft.com/office/drawing/2014/main" id="{763E9968-737C-4164-9EE9-760A7BE9A3D9}"/>
              </a:ext>
            </a:extLst>
          </p:cNvPr>
          <p:cNvSpPr>
            <a:spLocks xmlns:a="http://schemas.openxmlformats.org/drawingml/2006/main" noGrp="1"/>
          </p:cNvSpPr>
          <p:nvPr/>
        </p:nvSpPr>
        <p:spPr>
          <a:xfrm xmlns:a="http://schemas.openxmlformats.org/drawingml/2006/main">
            <a:off x="9353550" y="1123950"/>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06359"/>
                </a:solidFill>
                <a:latin typeface="Arial"/>
                <a:ea typeface="Arial"/>
                <a:cs typeface="Arial"/>
              </a:defRPr>
            </a:defPPr>
          </a:lstStyle>
          <a:p xmlns:a="http://schemas.openxmlformats.org/drawingml/2006/main">
            <a:pPr>
              <a:defRPr sz="1500" b="0">
                <a:solidFill>
                  <a:srgbClr val="506359"/>
                </a:solidFill>
                <a:latin typeface="Arial"/>
                <a:ea typeface="Arial"/>
                <a:cs typeface="Arial"/>
              </a:defRPr>
            </a:pPr>
            <a:r>
              <a:rPr sz="1500" b="0">
                <a:solidFill>
                  <a:srgbClr val="506359"/>
                </a:solidFill>
                <a:latin typeface="Arial"/>
                <a:ea typeface="Arial"/>
                <a:cs typeface="Arial"/>
              </a:rPr>
              <a:t>Mobile</a:t>
            </a:r>
          </a:p>
        </p:txBody>
      </p:sp>
      <p:pic>
        <p:nvPicPr>
          <p:cNvPr id="4" name="">
            <a:extLst xmlns:a="http://schemas.openxmlformats.org/drawingml/2006/main">
              <a:ext uri="{FF2B5EF4-FFF2-40B4-BE49-F238E27FC236}">
                <a16:creationId xmlns:a16="http://schemas.microsoft.com/office/drawing/2014/main" id="{EA1DD99A-758F-4FF8-A7EB-B4F05197DD58}"/>
              </a:ext>
            </a:extLst>
          </p:cNvPr>
          <p:cNvPicPr>
            <a:picLocks xmlns:a="http://schemas.openxmlformats.org/drawingml/2006/main" noChangeAspect="1"/>
          </p:cNvPicPr>
          <p:nvPr/>
        </p:nvPicPr>
        <p:blipFill>
          <a:blip xmlns:r="http://schemas.openxmlformats.org/officeDocument/2006/relationships" xmlns:a="http://schemas.openxmlformats.org/drawingml/2006/main" r:embed="R4b4df427bf5448c4"/>
          <a:stretch xmlns:a="http://schemas.openxmlformats.org/drawingml/2006/main"/>
        </p:blipFill>
        <p:spPr>
          <a:xfrm xmlns:a="http://schemas.openxmlformats.org/drawingml/2006/main">
            <a:off x="1191129" y="1524000"/>
            <a:ext cx="7237991" cy="4524375"/>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C4F63F0D-0CB7-4622-8827-905EA4FBA228}"/>
              </a:ext>
            </a:extLst>
          </p:cNvPr>
          <p:cNvPicPr>
            <a:picLocks xmlns:a="http://schemas.openxmlformats.org/drawingml/2006/main" noChangeAspect="1"/>
          </p:cNvPicPr>
          <p:nvPr/>
        </p:nvPicPr>
        <p:blipFill>
          <a:blip xmlns:r="http://schemas.openxmlformats.org/officeDocument/2006/relationships" xmlns:a="http://schemas.openxmlformats.org/drawingml/2006/main" r:embed="R1890e4cd37cf4180"/>
          <a:stretch xmlns:a="http://schemas.openxmlformats.org/drawingml/2006/main"/>
        </p:blipFill>
        <p:spPr>
          <a:xfrm xmlns:a="http://schemas.openxmlformats.org/drawingml/2006/main">
            <a:off x="9386127" y="1476375"/>
            <a:ext cx="2135121" cy="46196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A34324E-ACF6-46BF-8552-3A474B9CD494}"/>
              </a:ext>
            </a:extLst>
          </p:cNvPr>
          <p:cNvSpPr>
            <a:spLocks xmlns:a="http://schemas.openxmlformats.org/drawingml/2006/main" noGrp="1"/>
          </p:cNvSpPr>
          <p:nvPr/>
        </p:nvSpPr>
        <p:spPr>
          <a:xfrm xmlns:a="http://schemas.openxmlformats.org/drawingml/2006/main">
            <a:off x="619125" y="61912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73728"/>
                </a:solidFill>
                <a:latin typeface="Arial"/>
                <a:ea typeface="Arial"/>
                <a:cs typeface="Arial"/>
              </a:defRPr>
            </a:defPPr>
          </a:lstStyle>
          <a:p xmlns:a="http://schemas.openxmlformats.org/drawingml/2006/main">
            <a:pPr>
              <a:defRPr sz="1500" b="0">
                <a:solidFill>
                  <a:srgbClr val="173728"/>
                </a:solidFill>
                <a:latin typeface="Arial"/>
                <a:ea typeface="Arial"/>
                <a:cs typeface="Arial"/>
              </a:defRPr>
            </a:pPr>
            <a:r>
              <a:rPr sz="1500" b="0">
                <a:solidFill>
                  <a:srgbClr val="173728"/>
                </a:solidFill>
                <a:latin typeface="Arial"/>
                <a:ea typeface="Arial"/>
                <a:cs typeface="Arial"/>
              </a:rPr>
              <a:t>Responsive product browsing with search and cart actions</a:t>
            </a:r>
          </a:p>
        </p:txBody>
      </p:sp>
      <p:sp>
        <p:nvSpPr>
          <p:cNvPr id="7" name="">
            <a:extLst xmlns:a="http://schemas.openxmlformats.org/drawingml/2006/main">
              <a:ext uri="{FF2B5EF4-FFF2-40B4-BE49-F238E27FC236}">
                <a16:creationId xmlns:a16="http://schemas.microsoft.com/office/drawing/2014/main" id="{AE3AAD81-A1D2-4599-8125-665D0AE26FB2}"/>
              </a:ext>
            </a:extLst>
          </p:cNvPr>
          <p:cNvSpPr>
            <a:spLocks xmlns:a="http://schemas.openxmlformats.org/drawingml/2006/main" noGrp="1"/>
          </p:cNvSpPr>
          <p:nvPr/>
        </p:nvSpPr>
        <p:spPr>
          <a:xfrm xmlns:a="http://schemas.openxmlformats.org/drawingml/2006/main">
            <a:off x="619125" y="65341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06359"/>
                </a:solidFill>
                <a:latin typeface="Arial"/>
                <a:ea typeface="Arial"/>
                <a:cs typeface="Arial"/>
              </a:defRPr>
            </a:defPPr>
          </a:lstStyle>
          <a:p xmlns:a="http://schemas.openxmlformats.org/drawingml/2006/main">
            <a:pPr>
              <a:defRPr sz="1200" b="0">
                <a:solidFill>
                  <a:srgbClr val="506359"/>
                </a:solidFill>
                <a:latin typeface="Arial"/>
                <a:ea typeface="Arial"/>
                <a:cs typeface="Arial"/>
              </a:defRPr>
            </a:pPr>
            <a:r>
              <a:rPr sz="1200" b="0">
                <a:solidFill>
                  <a:srgbClr val="506359"/>
                </a:solidFill>
                <a:latin typeface="Arial"/>
                <a:ea typeface="Arial"/>
                <a:cs typeface="Arial"/>
              </a:rPr>
              <a:t>Local demo with sample records and placeholder product images</a:t>
            </a:r>
          </a:p>
        </p:txBody>
      </p:sp>
    </p:spTree>
    <p:extLst>
      <p:ext uri="{BB962C8B-B14F-4D97-AF65-F5344CB8AC3E}">
        <p14:creationId xmlns:p14="http://schemas.microsoft.com/office/powerpoint/2010/main" val="1178376916"/>
      </p:ext>
    </p:extLst>
  </p:cSld>
</p:sld>
</file>

<file path=ppt/slides/slide6.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B994595-BD23-47D4-BF1A-CF0E12B51AA3}"/>
              </a:ext>
            </a:extLst>
          </p:cNvPr>
          <p:cNvSpPr>
            <a:spLocks xmlns:a="http://schemas.openxmlformats.org/drawingml/2006/main" noGrp="1"/>
          </p:cNvSpPr>
          <p:nvPr/>
        </p:nvSpPr>
        <p:spPr>
          <a:xfrm xmlns:a="http://schemas.openxmlformats.org/drawingml/2006/main">
            <a:off x="619125" y="3619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173728"/>
                </a:solidFill>
                <a:latin typeface="Arial"/>
                <a:ea typeface="Arial"/>
                <a:cs typeface="Arial"/>
              </a:defRPr>
            </a:defPPr>
          </a:lstStyle>
          <a:p xmlns:a="http://schemas.openxmlformats.org/drawingml/2006/main">
            <a:pPr>
              <a:defRPr sz="2850" b="1">
                <a:solidFill>
                  <a:srgbClr val="173728"/>
                </a:solidFill>
                <a:latin typeface="Arial"/>
                <a:ea typeface="Arial"/>
                <a:cs typeface="Arial"/>
              </a:defRPr>
            </a:pPr>
            <a:r>
              <a:rPr sz="2850" b="1">
                <a:solidFill>
                  <a:srgbClr val="173728"/>
                </a:solidFill>
                <a:latin typeface="Arial"/>
                <a:ea typeface="Arial"/>
                <a:cs typeface="Arial"/>
              </a:rPr>
              <a:t>Product details on desktop</a:t>
            </a:r>
          </a:p>
        </p:txBody>
      </p:sp>
      <p:pic>
        <p:nvPicPr>
          <p:cNvPr id="2" name="">
            <a:extLst xmlns:a="http://schemas.openxmlformats.org/drawingml/2006/main">
              <a:ext uri="{FF2B5EF4-FFF2-40B4-BE49-F238E27FC236}">
                <a16:creationId xmlns:a16="http://schemas.microsoft.com/office/drawing/2014/main" id="{056CF7B2-3641-470F-9691-4735B99CCFD5}"/>
              </a:ext>
            </a:extLst>
          </p:cNvPr>
          <p:cNvPicPr>
            <a:picLocks xmlns:a="http://schemas.openxmlformats.org/drawingml/2006/main" noChangeAspect="1"/>
          </p:cNvPicPr>
          <p:nvPr/>
        </p:nvPicPr>
        <p:blipFill>
          <a:blip xmlns:r="http://schemas.openxmlformats.org/officeDocument/2006/relationships" xmlns:a="http://schemas.openxmlformats.org/drawingml/2006/main" r:embed="Rdae2327ed49544ec"/>
          <a:stretch xmlns:a="http://schemas.openxmlformats.org/drawingml/2006/main"/>
        </p:blipFill>
        <p:spPr>
          <a:xfrm xmlns:a="http://schemas.openxmlformats.org/drawingml/2006/main">
            <a:off x="2172247" y="1200150"/>
            <a:ext cx="7847506" cy="490537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7CB77DD-6283-4F24-BACE-CFA69B2114F8}"/>
              </a:ext>
            </a:extLst>
          </p:cNvPr>
          <p:cNvSpPr>
            <a:spLocks xmlns:a="http://schemas.openxmlformats.org/drawingml/2006/main" noGrp="1"/>
          </p:cNvSpPr>
          <p:nvPr/>
        </p:nvSpPr>
        <p:spPr>
          <a:xfrm xmlns:a="http://schemas.openxmlformats.org/drawingml/2006/main">
            <a:off x="619125" y="61912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73728"/>
                </a:solidFill>
                <a:latin typeface="Arial"/>
                <a:ea typeface="Arial"/>
                <a:cs typeface="Arial"/>
              </a:defRPr>
            </a:defPPr>
          </a:lstStyle>
          <a:p xmlns:a="http://schemas.openxmlformats.org/drawingml/2006/main">
            <a:pPr>
              <a:defRPr sz="1500" b="0">
                <a:solidFill>
                  <a:srgbClr val="173728"/>
                </a:solidFill>
                <a:latin typeface="Arial"/>
                <a:ea typeface="Arial"/>
                <a:cs typeface="Arial"/>
              </a:defRPr>
            </a:pPr>
            <a:r>
              <a:rPr sz="1500" b="0">
                <a:solidFill>
                  <a:srgbClr val="173728"/>
                </a:solidFill>
                <a:latin typeface="Arial"/>
                <a:ea typeface="Arial"/>
                <a:cs typeface="Arial"/>
              </a:rPr>
              <a:t>Product pricing, stock, pack selection, and cart controls</a:t>
            </a:r>
          </a:p>
        </p:txBody>
      </p:sp>
      <p:sp>
        <p:nvSpPr>
          <p:cNvPr id="4" name="">
            <a:extLst xmlns:a="http://schemas.openxmlformats.org/drawingml/2006/main">
              <a:ext uri="{FF2B5EF4-FFF2-40B4-BE49-F238E27FC236}">
                <a16:creationId xmlns:a16="http://schemas.microsoft.com/office/drawing/2014/main" id="{DF8F6A4F-92E4-4B93-83A7-3F041C67623F}"/>
              </a:ext>
            </a:extLst>
          </p:cNvPr>
          <p:cNvSpPr>
            <a:spLocks xmlns:a="http://schemas.openxmlformats.org/drawingml/2006/main" noGrp="1"/>
          </p:cNvSpPr>
          <p:nvPr/>
        </p:nvSpPr>
        <p:spPr>
          <a:xfrm xmlns:a="http://schemas.openxmlformats.org/drawingml/2006/main">
            <a:off x="619125" y="65341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06359"/>
                </a:solidFill>
                <a:latin typeface="Arial"/>
                <a:ea typeface="Arial"/>
                <a:cs typeface="Arial"/>
              </a:defRPr>
            </a:defPPr>
          </a:lstStyle>
          <a:p xmlns:a="http://schemas.openxmlformats.org/drawingml/2006/main">
            <a:pPr>
              <a:defRPr sz="1200" b="0">
                <a:solidFill>
                  <a:srgbClr val="506359"/>
                </a:solidFill>
                <a:latin typeface="Arial"/>
                <a:ea typeface="Arial"/>
                <a:cs typeface="Arial"/>
              </a:defRPr>
            </a:pPr>
            <a:r>
              <a:rPr sz="1200" b="0">
                <a:solidFill>
                  <a:srgbClr val="506359"/>
                </a:solidFill>
                <a:latin typeface="Arial"/>
                <a:ea typeface="Arial"/>
                <a:cs typeface="Arial"/>
              </a:rPr>
              <a:t>Local demo with sample records and placeholder product images</a:t>
            </a:r>
          </a:p>
        </p:txBody>
      </p:sp>
    </p:spTree>
    <p:extLst>
      <p:ext uri="{BB962C8B-B14F-4D97-AF65-F5344CB8AC3E}">
        <p14:creationId xmlns:p14="http://schemas.microsoft.com/office/powerpoint/2010/main" val="989702008"/>
      </p:ext>
    </p:extLst>
  </p:cSld>
</p:sld>
</file>

<file path=ppt/slides/slide7.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7F940EE-22DA-4193-BAE5-C6234571B048}"/>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73728"/>
                </a:solidFill>
                <a:latin typeface="Arial"/>
                <a:ea typeface="Arial"/>
                <a:cs typeface="Arial"/>
              </a:defRPr>
            </a:defPPr>
          </a:lstStyle>
          <a:p xmlns:a="http://schemas.openxmlformats.org/drawingml/2006/main">
            <a:pPr>
              <a:buNone/>
              <a:defRPr sz="3300" b="1">
                <a:solidFill>
                  <a:srgbClr val="173728"/>
                </a:solidFill>
                <a:latin typeface="Arial"/>
                <a:ea typeface="Arial"/>
                <a:cs typeface="Arial"/>
              </a:defRPr>
            </a:pPr>
            <a:r>
              <a:rPr sz="3300" b="1">
                <a:solidFill>
                  <a:srgbClr val="173728"/>
                </a:solidFill>
                <a:latin typeface="Arial"/>
                <a:ea typeface="Arial"/>
                <a:cs typeface="Arial"/>
              </a:rPr>
              <a:t>Customer accounts</a:t>
            </a:r>
          </a:p>
        </p:txBody>
      </p:sp>
      <p:sp>
        <p:nvSpPr>
          <p:cNvPr id="2" name="">
            <a:extLst xmlns:a="http://schemas.openxmlformats.org/drawingml/2006/main">
              <a:ext uri="{FF2B5EF4-FFF2-40B4-BE49-F238E27FC236}">
                <a16:creationId xmlns:a16="http://schemas.microsoft.com/office/drawing/2014/main" id="{715580EF-1683-4CC2-92CC-466A19640E3B}"/>
              </a:ext>
            </a:extLst>
          </p:cNvPr>
          <p:cNvSpPr>
            <a:spLocks xmlns:a="http://schemas.openxmlformats.org/drawingml/2006/main" noGrp="1"/>
          </p:cNvSpPr>
          <p:nvPr/>
        </p:nvSpPr>
        <p:spPr>
          <a:xfrm xmlns:a="http://schemas.openxmlformats.org/drawingml/2006/main">
            <a:off x="10953750" y="62484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06359"/>
                </a:solidFill>
                <a:latin typeface="Arial"/>
                <a:ea typeface="Arial"/>
                <a:cs typeface="Arial"/>
              </a:defRPr>
            </a:defPPr>
          </a:lstStyle>
          <a:p xmlns:a="http://schemas.openxmlformats.org/drawingml/2006/main">
            <a:pPr>
              <a:buNone/>
              <a:defRPr sz="1275" b="0">
                <a:solidFill>
                  <a:srgbClr val="506359"/>
                </a:solidFill>
                <a:latin typeface="Arial"/>
                <a:ea typeface="Arial"/>
                <a:cs typeface="Arial"/>
              </a:defRPr>
            </a:pPr>
            <a:r>
              <a:rPr sz="1275" b="0">
                <a:solidFill>
                  <a:srgbClr val="506359"/>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9814C57D-8BDF-43AB-B9F6-BF923ED93324}"/>
              </a:ext>
            </a:extLst>
          </p:cNvPr>
          <p:cNvSpPr>
            <a:spLocks xmlns:a="http://schemas.openxmlformats.org/drawingml/2006/main" noGrp="1"/>
          </p:cNvSpPr>
          <p:nvPr/>
        </p:nvSpPr>
        <p:spPr>
          <a:xfrm xmlns:a="http://schemas.openxmlformats.org/drawingml/2006/main">
            <a:off x="666750" y="1790700"/>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4F7D28"/>
                </a:solidFill>
                <a:latin typeface="Arial"/>
                <a:ea typeface="Arial"/>
                <a:cs typeface="Arial"/>
              </a:defRPr>
            </a:defPPr>
          </a:lstStyle>
          <a:p xmlns:a="http://schemas.openxmlformats.org/drawingml/2006/main">
            <a:pPr>
              <a:buNone/>
              <a:defRPr sz="2175" b="1">
                <a:solidFill>
                  <a:srgbClr val="4F7D28"/>
                </a:solidFill>
                <a:latin typeface="Arial"/>
                <a:ea typeface="Arial"/>
                <a:cs typeface="Arial"/>
              </a:defRPr>
            </a:pPr>
            <a:r>
              <a:rPr sz="2175" b="1">
                <a:solidFill>
                  <a:srgbClr val="4F7D28"/>
                </a:solidFill>
                <a:latin typeface="Arial"/>
                <a:ea typeface="Arial"/>
                <a:cs typeface="Arial"/>
              </a:rPr>
              <a:t>Registration and access</a:t>
            </a:r>
          </a:p>
        </p:txBody>
      </p:sp>
      <p:sp>
        <p:nvSpPr>
          <p:cNvPr id="4" name="">
            <a:extLst xmlns:a="http://schemas.openxmlformats.org/drawingml/2006/main">
              <a:ext uri="{FF2B5EF4-FFF2-40B4-BE49-F238E27FC236}">
                <a16:creationId xmlns:a16="http://schemas.microsoft.com/office/drawing/2014/main" id="{2741FC26-D294-4656-943D-FFABB8857DC5}"/>
              </a:ext>
            </a:extLst>
          </p:cNvPr>
          <p:cNvSpPr>
            <a:spLocks xmlns:a="http://schemas.openxmlformats.org/drawingml/2006/main" noGrp="1"/>
          </p:cNvSpPr>
          <p:nvPr/>
        </p:nvSpPr>
        <p:spPr>
          <a:xfrm xmlns:a="http://schemas.openxmlformats.org/drawingml/2006/main">
            <a:off x="666750" y="2457450"/>
            <a:ext cx="495300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73728"/>
                </a:solidFill>
                <a:latin typeface="Arial"/>
                <a:ea typeface="Arial"/>
                <a:cs typeface="Arial"/>
              </a:defRPr>
            </a:defPPr>
          </a:lstStyle>
          <a:p xmlns:a="http://schemas.openxmlformats.org/drawingml/2006/main">
            <a:pPr marL="254000" indent="-127000">
              <a:spcAft>
                <a:spcPts val="1700"/>
              </a:spcAft>
              <a:buChar char="•"/>
              <a:defRPr sz="1950" b="0">
                <a:solidFill>
                  <a:srgbClr val="173728"/>
                </a:solidFill>
                <a:latin typeface="Arial"/>
                <a:ea typeface="Arial"/>
                <a:cs typeface="Arial"/>
              </a:defRPr>
            </a:pPr>
            <a:r>
              <a:rPr sz="1950">
                <a:solidFill>
                  <a:srgbClr val="173728"/>
                </a:solidFill>
                <a:latin typeface="Arial"/>
                <a:ea typeface="Arial"/>
                <a:cs typeface="Arial"/>
              </a:rPr>
              <a:t>Phone verification through SMS OTP</a:t>
            </a:r>
          </a:p>
          <a:p xmlns:a="http://schemas.openxmlformats.org/drawingml/2006/main">
            <a:pPr marL="254000" indent="-127000">
              <a:spcAft>
                <a:spcPts val="1700"/>
              </a:spcAft>
              <a:buChar char="•"/>
              <a:defRPr sz="1950" b="0">
                <a:solidFill>
                  <a:srgbClr val="173728"/>
                </a:solidFill>
                <a:latin typeface="Arial"/>
                <a:ea typeface="Arial"/>
                <a:cs typeface="Arial"/>
              </a:defRPr>
            </a:pPr>
            <a:r>
              <a:rPr sz="1950">
                <a:solidFill>
                  <a:srgbClr val="173728"/>
                </a:solidFill>
                <a:latin typeface="Arial"/>
                <a:ea typeface="Arial"/>
                <a:cs typeface="Arial"/>
              </a:rPr>
              <a:t>Login with email or phone and password</a:t>
            </a:r>
          </a:p>
          <a:p xmlns:a="http://schemas.openxmlformats.org/drawingml/2006/main">
            <a:pPr marL="254000" indent="-127000">
              <a:spcAft>
                <a:spcPts val="1700"/>
              </a:spcAft>
              <a:buChar char="•"/>
              <a:defRPr sz="1950" b="0">
                <a:solidFill>
                  <a:srgbClr val="173728"/>
                </a:solidFill>
                <a:latin typeface="Arial"/>
                <a:ea typeface="Arial"/>
                <a:cs typeface="Arial"/>
              </a:defRPr>
            </a:pPr>
            <a:r>
              <a:rPr sz="1950">
                <a:solidFill>
                  <a:srgbClr val="173728"/>
                </a:solidFill>
                <a:latin typeface="Arial"/>
                <a:ea typeface="Arial"/>
                <a:cs typeface="Arial"/>
              </a:rPr>
              <a:t>JWT cookies with token refresh</a:t>
            </a:r>
          </a:p>
        </p:txBody>
      </p:sp>
      <p:sp>
        <p:nvSpPr>
          <p:cNvPr id="5" name="">
            <a:extLst xmlns:a="http://schemas.openxmlformats.org/drawingml/2006/main">
              <a:ext uri="{FF2B5EF4-FFF2-40B4-BE49-F238E27FC236}">
                <a16:creationId xmlns:a16="http://schemas.microsoft.com/office/drawing/2014/main" id="{A616FFBC-6363-4947-B2DD-0041C0199BF2}"/>
              </a:ext>
            </a:extLst>
          </p:cNvPr>
          <p:cNvSpPr>
            <a:spLocks xmlns:a="http://schemas.openxmlformats.org/drawingml/2006/main" noGrp="1"/>
          </p:cNvSpPr>
          <p:nvPr/>
        </p:nvSpPr>
        <p:spPr>
          <a:xfrm xmlns:a="http://schemas.openxmlformats.org/drawingml/2006/main">
            <a:off x="6477000" y="1790700"/>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4F7D28"/>
                </a:solidFill>
                <a:latin typeface="Arial"/>
                <a:ea typeface="Arial"/>
                <a:cs typeface="Arial"/>
              </a:defRPr>
            </a:defPPr>
          </a:lstStyle>
          <a:p xmlns:a="http://schemas.openxmlformats.org/drawingml/2006/main">
            <a:pPr>
              <a:buNone/>
              <a:defRPr sz="2175" b="1">
                <a:solidFill>
                  <a:srgbClr val="4F7D28"/>
                </a:solidFill>
                <a:latin typeface="Arial"/>
                <a:ea typeface="Arial"/>
                <a:cs typeface="Arial"/>
              </a:defRPr>
            </a:pPr>
            <a:r>
              <a:rPr sz="2175" b="1">
                <a:solidFill>
                  <a:srgbClr val="4F7D28"/>
                </a:solidFill>
                <a:latin typeface="Arial"/>
                <a:ea typeface="Arial"/>
                <a:cs typeface="Arial"/>
              </a:rPr>
              <a:t>Personal information</a:t>
            </a:r>
          </a:p>
        </p:txBody>
      </p:sp>
      <p:sp>
        <p:nvSpPr>
          <p:cNvPr id="6" name="">
            <a:extLst xmlns:a="http://schemas.openxmlformats.org/drawingml/2006/main">
              <a:ext uri="{FF2B5EF4-FFF2-40B4-BE49-F238E27FC236}">
                <a16:creationId xmlns:a16="http://schemas.microsoft.com/office/drawing/2014/main" id="{3D312382-D784-43F8-8546-86E1A209E872}"/>
              </a:ext>
            </a:extLst>
          </p:cNvPr>
          <p:cNvSpPr>
            <a:spLocks xmlns:a="http://schemas.openxmlformats.org/drawingml/2006/main" noGrp="1"/>
          </p:cNvSpPr>
          <p:nvPr/>
        </p:nvSpPr>
        <p:spPr>
          <a:xfrm xmlns:a="http://schemas.openxmlformats.org/drawingml/2006/main">
            <a:off x="6477000" y="2457450"/>
            <a:ext cx="495300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73728"/>
                </a:solidFill>
                <a:latin typeface="Arial"/>
                <a:ea typeface="Arial"/>
                <a:cs typeface="Arial"/>
              </a:defRPr>
            </a:defPPr>
          </a:lstStyle>
          <a:p xmlns:a="http://schemas.openxmlformats.org/drawingml/2006/main">
            <a:pPr marL="254000" indent="-127000">
              <a:spcAft>
                <a:spcPts val="1700"/>
              </a:spcAft>
              <a:buChar char="•"/>
              <a:defRPr sz="1950" b="0">
                <a:solidFill>
                  <a:srgbClr val="173728"/>
                </a:solidFill>
                <a:latin typeface="Arial"/>
                <a:ea typeface="Arial"/>
                <a:cs typeface="Arial"/>
              </a:defRPr>
            </a:pPr>
            <a:r>
              <a:rPr sz="1950">
                <a:solidFill>
                  <a:srgbClr val="173728"/>
                </a:solidFill>
                <a:latin typeface="Arial"/>
                <a:ea typeface="Arial"/>
                <a:cs typeface="Arial"/>
              </a:rPr>
              <a:t>Profile details and avatar</a:t>
            </a:r>
          </a:p>
          <a:p xmlns:a="http://schemas.openxmlformats.org/drawingml/2006/main">
            <a:pPr marL="254000" indent="-127000">
              <a:spcAft>
                <a:spcPts val="1700"/>
              </a:spcAft>
              <a:buChar char="•"/>
              <a:defRPr sz="1950" b="0">
                <a:solidFill>
                  <a:srgbClr val="173728"/>
                </a:solidFill>
                <a:latin typeface="Arial"/>
                <a:ea typeface="Arial"/>
                <a:cs typeface="Arial"/>
              </a:defRPr>
            </a:pPr>
            <a:r>
              <a:rPr sz="1950">
                <a:solidFill>
                  <a:srgbClr val="173728"/>
                </a:solidFill>
                <a:latin typeface="Arial"/>
                <a:ea typeface="Arial"/>
                <a:cs typeface="Arial"/>
              </a:rPr>
              <a:t>Saved delivery addresses</a:t>
            </a:r>
          </a:p>
          <a:p xmlns:a="http://schemas.openxmlformats.org/drawingml/2006/main">
            <a:pPr marL="254000" indent="-127000">
              <a:spcAft>
                <a:spcPts val="1700"/>
              </a:spcAft>
              <a:buChar char="•"/>
              <a:defRPr sz="1950" b="0">
                <a:solidFill>
                  <a:srgbClr val="173728"/>
                </a:solidFill>
                <a:latin typeface="Arial"/>
                <a:ea typeface="Arial"/>
                <a:cs typeface="Arial"/>
              </a:defRPr>
            </a:pPr>
            <a:r>
              <a:rPr sz="1950">
                <a:solidFill>
                  <a:srgbClr val="173728"/>
                </a:solidFill>
                <a:latin typeface="Arial"/>
                <a:ea typeface="Arial"/>
                <a:cs typeface="Arial"/>
              </a:rPr>
              <a:t>Product wishlist</a:t>
            </a:r>
          </a:p>
        </p:txBody>
      </p:sp>
    </p:spTree>
    <p:extLst>
      <p:ext uri="{BB962C8B-B14F-4D97-AF65-F5344CB8AC3E}">
        <p14:creationId xmlns:p14="http://schemas.microsoft.com/office/powerpoint/2010/main" val="773703285"/>
      </p:ext>
    </p:extLst>
  </p:cSld>
</p:sld>
</file>

<file path=ppt/slides/slide8.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83623AE-CD2B-447A-B4A8-A740C272104D}"/>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73728"/>
                </a:solidFill>
                <a:latin typeface="Arial"/>
                <a:ea typeface="Arial"/>
                <a:cs typeface="Arial"/>
              </a:defRPr>
            </a:defPPr>
          </a:lstStyle>
          <a:p xmlns:a="http://schemas.openxmlformats.org/drawingml/2006/main">
            <a:pPr>
              <a:buNone/>
              <a:defRPr sz="3300" b="1">
                <a:solidFill>
                  <a:srgbClr val="173728"/>
                </a:solidFill>
                <a:latin typeface="Arial"/>
                <a:ea typeface="Arial"/>
                <a:cs typeface="Arial"/>
              </a:defRPr>
            </a:pPr>
            <a:r>
              <a:rPr sz="3300" b="1">
                <a:solidFill>
                  <a:srgbClr val="173728"/>
                </a:solidFill>
                <a:latin typeface="Arial"/>
                <a:ea typeface="Arial"/>
                <a:cs typeface="Arial"/>
              </a:rPr>
              <a:t>Cart and checkout</a:t>
            </a:r>
          </a:p>
        </p:txBody>
      </p:sp>
      <p:sp>
        <p:nvSpPr>
          <p:cNvPr id="2" name="">
            <a:extLst xmlns:a="http://schemas.openxmlformats.org/drawingml/2006/main">
              <a:ext uri="{FF2B5EF4-FFF2-40B4-BE49-F238E27FC236}">
                <a16:creationId xmlns:a16="http://schemas.microsoft.com/office/drawing/2014/main" id="{3DAC4BD8-0CB8-4CE3-ABA2-056D64AC5E48}"/>
              </a:ext>
            </a:extLst>
          </p:cNvPr>
          <p:cNvSpPr>
            <a:spLocks xmlns:a="http://schemas.openxmlformats.org/drawingml/2006/main" noGrp="1"/>
          </p:cNvSpPr>
          <p:nvPr/>
        </p:nvSpPr>
        <p:spPr>
          <a:xfrm xmlns:a="http://schemas.openxmlformats.org/drawingml/2006/main">
            <a:off x="10953750" y="62484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06359"/>
                </a:solidFill>
                <a:latin typeface="Arial"/>
                <a:ea typeface="Arial"/>
                <a:cs typeface="Arial"/>
              </a:defRPr>
            </a:defPPr>
          </a:lstStyle>
          <a:p xmlns:a="http://schemas.openxmlformats.org/drawingml/2006/main">
            <a:pPr>
              <a:buNone/>
              <a:defRPr sz="1275" b="0">
                <a:solidFill>
                  <a:srgbClr val="506359"/>
                </a:solidFill>
                <a:latin typeface="Arial"/>
                <a:ea typeface="Arial"/>
                <a:cs typeface="Arial"/>
              </a:defRPr>
            </a:pPr>
            <a:r>
              <a:rPr sz="1275" b="0">
                <a:solidFill>
                  <a:srgbClr val="506359"/>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4ED9556B-F59B-4665-A07C-63E3D0033736}"/>
              </a:ext>
            </a:extLst>
          </p:cNvPr>
          <p:cNvSpPr>
            <a:spLocks xmlns:a="http://schemas.openxmlformats.org/drawingml/2006/main" noGrp="1"/>
          </p:cNvSpPr>
          <p:nvPr/>
        </p:nvSpPr>
        <p:spPr>
          <a:xfrm xmlns:a="http://schemas.openxmlformats.org/drawingml/2006/main">
            <a:off x="666750" y="1943100"/>
            <a:ext cx="1057275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3728"/>
                </a:solidFill>
                <a:latin typeface="Arial"/>
                <a:ea typeface="Arial"/>
                <a:cs typeface="Arial"/>
              </a:defRPr>
            </a:defPPr>
          </a:lstStyle>
          <a:p xmlns:a="http://schemas.openxmlformats.org/drawingml/2006/main">
            <a:pPr marL="254000" indent="-127000">
              <a:spcAft>
                <a:spcPts val="1700"/>
              </a:spcAft>
              <a:buChar char="•"/>
              <a:defRPr sz="2175" b="0">
                <a:solidFill>
                  <a:srgbClr val="173728"/>
                </a:solidFill>
                <a:latin typeface="Arial"/>
                <a:ea typeface="Arial"/>
                <a:cs typeface="Arial"/>
              </a:defRPr>
            </a:pPr>
            <a:r>
              <a:rPr sz="2175">
                <a:solidFill>
                  <a:srgbClr val="173728"/>
                </a:solidFill>
                <a:latin typeface="Arial"/>
                <a:ea typeface="Arial"/>
                <a:cs typeface="Arial"/>
              </a:rPr>
              <a:t>Add products and adjust quantities within stock limits</a:t>
            </a:r>
          </a:p>
          <a:p xmlns:a="http://schemas.openxmlformats.org/drawingml/2006/main">
            <a:pPr marL="254000" indent="-127000">
              <a:spcAft>
                <a:spcPts val="1700"/>
              </a:spcAft>
              <a:buChar char="•"/>
              <a:defRPr sz="2175" b="0">
                <a:solidFill>
                  <a:srgbClr val="173728"/>
                </a:solidFill>
                <a:latin typeface="Arial"/>
                <a:ea typeface="Arial"/>
                <a:cs typeface="Arial"/>
              </a:defRPr>
            </a:pPr>
            <a:r>
              <a:rPr sz="2175">
                <a:solidFill>
                  <a:srgbClr val="173728"/>
                </a:solidFill>
                <a:latin typeface="Arial"/>
                <a:ea typeface="Arial"/>
                <a:cs typeface="Arial"/>
              </a:rPr>
              <a:t>Select specific cart items for checkout</a:t>
            </a:r>
          </a:p>
          <a:p xmlns:a="http://schemas.openxmlformats.org/drawingml/2006/main">
            <a:pPr marL="254000" indent="-127000">
              <a:spcAft>
                <a:spcPts val="1700"/>
              </a:spcAft>
              <a:buChar char="•"/>
              <a:defRPr sz="2175" b="0">
                <a:solidFill>
                  <a:srgbClr val="173728"/>
                </a:solidFill>
                <a:latin typeface="Arial"/>
                <a:ea typeface="Arial"/>
                <a:cs typeface="Arial"/>
              </a:defRPr>
            </a:pPr>
            <a:r>
              <a:rPr sz="2175">
                <a:solidFill>
                  <a:srgbClr val="173728"/>
                </a:solidFill>
                <a:latin typeface="Arial"/>
                <a:ea typeface="Arial"/>
                <a:cs typeface="Arial"/>
              </a:rPr>
              <a:t>Choose a delivery address and map location</a:t>
            </a:r>
          </a:p>
          <a:p xmlns:a="http://schemas.openxmlformats.org/drawingml/2006/main">
            <a:pPr marL="254000" indent="-127000">
              <a:spcAft>
                <a:spcPts val="1700"/>
              </a:spcAft>
              <a:buChar char="•"/>
              <a:defRPr sz="2175" b="0">
                <a:solidFill>
                  <a:srgbClr val="173728"/>
                </a:solidFill>
                <a:latin typeface="Arial"/>
                <a:ea typeface="Arial"/>
                <a:cs typeface="Arial"/>
              </a:defRPr>
            </a:pPr>
            <a:r>
              <a:rPr sz="2175">
                <a:solidFill>
                  <a:srgbClr val="173728"/>
                </a:solidFill>
                <a:latin typeface="Arial"/>
                <a:ea typeface="Arial"/>
                <a:cs typeface="Arial"/>
              </a:rPr>
              <a:t>Review product total, tax, and shipping charges</a:t>
            </a:r>
          </a:p>
          <a:p xmlns:a="http://schemas.openxmlformats.org/drawingml/2006/main">
            <a:pPr marL="254000" indent="-127000">
              <a:spcAft>
                <a:spcPts val="1700"/>
              </a:spcAft>
              <a:buChar char="•"/>
              <a:defRPr sz="2175" b="0">
                <a:solidFill>
                  <a:srgbClr val="173728"/>
                </a:solidFill>
                <a:latin typeface="Arial"/>
                <a:ea typeface="Arial"/>
                <a:cs typeface="Arial"/>
              </a:defRPr>
            </a:pPr>
            <a:r>
              <a:rPr sz="2175">
                <a:solidFill>
                  <a:srgbClr val="173728"/>
                </a:solidFill>
                <a:latin typeface="Arial"/>
                <a:ea typeface="Arial"/>
                <a:cs typeface="Arial"/>
              </a:rPr>
              <a:t>Select a configured payment option</a:t>
            </a:r>
          </a:p>
        </p:txBody>
      </p:sp>
    </p:spTree>
    <p:extLst>
      <p:ext uri="{BB962C8B-B14F-4D97-AF65-F5344CB8AC3E}">
        <p14:creationId xmlns:p14="http://schemas.microsoft.com/office/powerpoint/2010/main" val="699310997"/>
      </p:ext>
    </p:extLst>
  </p:cSld>
</p:sld>
</file>

<file path=ppt/slides/slide9.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61393F2-ECAB-4C91-953E-89979A9B0771}"/>
              </a:ext>
            </a:extLst>
          </p:cNvPr>
          <p:cNvSpPr>
            <a:spLocks xmlns:a="http://schemas.openxmlformats.org/drawingml/2006/main" noGrp="1"/>
          </p:cNvSpPr>
          <p:nvPr/>
        </p:nvSpPr>
        <p:spPr>
          <a:xfrm xmlns:a="http://schemas.openxmlformats.org/drawingml/2006/main">
            <a:off x="619125" y="3619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173728"/>
                </a:solidFill>
                <a:latin typeface="Arial"/>
                <a:ea typeface="Arial"/>
                <a:cs typeface="Arial"/>
              </a:defRPr>
            </a:defPPr>
          </a:lstStyle>
          <a:p xmlns:a="http://schemas.openxmlformats.org/drawingml/2006/main">
            <a:pPr>
              <a:defRPr sz="2850" b="1">
                <a:solidFill>
                  <a:srgbClr val="173728"/>
                </a:solidFill>
                <a:latin typeface="Arial"/>
                <a:ea typeface="Arial"/>
                <a:cs typeface="Arial"/>
              </a:defRPr>
            </a:pPr>
            <a:r>
              <a:rPr sz="2850" b="1">
                <a:solidFill>
                  <a:srgbClr val="173728"/>
                </a:solidFill>
                <a:latin typeface="Arial"/>
                <a:ea typeface="Arial"/>
                <a:cs typeface="Arial"/>
              </a:rPr>
              <a:t>Shopping cart on desktop and mobile</a:t>
            </a:r>
          </a:p>
        </p:txBody>
      </p:sp>
      <p:sp>
        <p:nvSpPr>
          <p:cNvPr id="2" name="">
            <a:extLst xmlns:a="http://schemas.openxmlformats.org/drawingml/2006/main">
              <a:ext uri="{FF2B5EF4-FFF2-40B4-BE49-F238E27FC236}">
                <a16:creationId xmlns:a16="http://schemas.microsoft.com/office/drawing/2014/main" id="{32DD243C-3170-43D7-83EE-3CE7CD50447E}"/>
              </a:ext>
            </a:extLst>
          </p:cNvPr>
          <p:cNvSpPr>
            <a:spLocks xmlns:a="http://schemas.openxmlformats.org/drawingml/2006/main" noGrp="1"/>
          </p:cNvSpPr>
          <p:nvPr/>
        </p:nvSpPr>
        <p:spPr>
          <a:xfrm xmlns:a="http://schemas.openxmlformats.org/drawingml/2006/main">
            <a:off x="619125" y="1123950"/>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06359"/>
                </a:solidFill>
                <a:latin typeface="Arial"/>
                <a:ea typeface="Arial"/>
                <a:cs typeface="Arial"/>
              </a:defRPr>
            </a:defPPr>
          </a:lstStyle>
          <a:p xmlns:a="http://schemas.openxmlformats.org/drawingml/2006/main">
            <a:pPr>
              <a:defRPr sz="1500" b="0">
                <a:solidFill>
                  <a:srgbClr val="506359"/>
                </a:solidFill>
                <a:latin typeface="Arial"/>
                <a:ea typeface="Arial"/>
                <a:cs typeface="Arial"/>
              </a:defRPr>
            </a:pPr>
            <a:r>
              <a:rPr sz="1500" b="0">
                <a:solidFill>
                  <a:srgbClr val="506359"/>
                </a:solidFill>
                <a:latin typeface="Arial"/>
                <a:ea typeface="Arial"/>
                <a:cs typeface="Arial"/>
              </a:rPr>
              <a:t>Desktop</a:t>
            </a:r>
          </a:p>
        </p:txBody>
      </p:sp>
      <p:sp>
        <p:nvSpPr>
          <p:cNvPr id="3" name="">
            <a:extLst xmlns:a="http://schemas.openxmlformats.org/drawingml/2006/main">
              <a:ext uri="{FF2B5EF4-FFF2-40B4-BE49-F238E27FC236}">
                <a16:creationId xmlns:a16="http://schemas.microsoft.com/office/drawing/2014/main" id="{A48AA471-9620-42BA-A8DB-6CE9D658B071}"/>
              </a:ext>
            </a:extLst>
          </p:cNvPr>
          <p:cNvSpPr>
            <a:spLocks xmlns:a="http://schemas.openxmlformats.org/drawingml/2006/main" noGrp="1"/>
          </p:cNvSpPr>
          <p:nvPr/>
        </p:nvSpPr>
        <p:spPr>
          <a:xfrm xmlns:a="http://schemas.openxmlformats.org/drawingml/2006/main">
            <a:off x="9353550" y="1123950"/>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06359"/>
                </a:solidFill>
                <a:latin typeface="Arial"/>
                <a:ea typeface="Arial"/>
                <a:cs typeface="Arial"/>
              </a:defRPr>
            </a:defPPr>
          </a:lstStyle>
          <a:p xmlns:a="http://schemas.openxmlformats.org/drawingml/2006/main">
            <a:pPr>
              <a:defRPr sz="1500" b="0">
                <a:solidFill>
                  <a:srgbClr val="506359"/>
                </a:solidFill>
                <a:latin typeface="Arial"/>
                <a:ea typeface="Arial"/>
                <a:cs typeface="Arial"/>
              </a:defRPr>
            </a:pPr>
            <a:r>
              <a:rPr sz="1500" b="0">
                <a:solidFill>
                  <a:srgbClr val="506359"/>
                </a:solidFill>
                <a:latin typeface="Arial"/>
                <a:ea typeface="Arial"/>
                <a:cs typeface="Arial"/>
              </a:rPr>
              <a:t>Mobile</a:t>
            </a:r>
          </a:p>
        </p:txBody>
      </p:sp>
      <p:pic>
        <p:nvPicPr>
          <p:cNvPr id="4" name="">
            <a:extLst xmlns:a="http://schemas.openxmlformats.org/drawingml/2006/main">
              <a:ext uri="{FF2B5EF4-FFF2-40B4-BE49-F238E27FC236}">
                <a16:creationId xmlns:a16="http://schemas.microsoft.com/office/drawing/2014/main" id="{842CCE8F-9E08-489A-81FF-4F27AB5CCDDB}"/>
              </a:ext>
            </a:extLst>
          </p:cNvPr>
          <p:cNvPicPr>
            <a:picLocks xmlns:a="http://schemas.openxmlformats.org/drawingml/2006/main" noChangeAspect="1"/>
          </p:cNvPicPr>
          <p:nvPr/>
        </p:nvPicPr>
        <p:blipFill>
          <a:blip xmlns:r="http://schemas.openxmlformats.org/officeDocument/2006/relationships" xmlns:a="http://schemas.openxmlformats.org/drawingml/2006/main" r:embed="R0db0712d32a042d8"/>
          <a:stretch xmlns:a="http://schemas.openxmlformats.org/drawingml/2006/main"/>
        </p:blipFill>
        <p:spPr>
          <a:xfrm xmlns:a="http://schemas.openxmlformats.org/drawingml/2006/main">
            <a:off x="1191129" y="1524000"/>
            <a:ext cx="7237991" cy="4524375"/>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7A1F5A70-4D7E-4F78-928A-4A9C0212B87B}"/>
              </a:ext>
            </a:extLst>
          </p:cNvPr>
          <p:cNvPicPr>
            <a:picLocks xmlns:a="http://schemas.openxmlformats.org/drawingml/2006/main" noChangeAspect="1"/>
          </p:cNvPicPr>
          <p:nvPr/>
        </p:nvPicPr>
        <p:blipFill>
          <a:blip xmlns:r="http://schemas.openxmlformats.org/officeDocument/2006/relationships" xmlns:a="http://schemas.openxmlformats.org/drawingml/2006/main" r:embed="Rd789beac48ea4fbe"/>
          <a:stretch xmlns:a="http://schemas.openxmlformats.org/drawingml/2006/main"/>
        </p:blipFill>
        <p:spPr>
          <a:xfrm xmlns:a="http://schemas.openxmlformats.org/drawingml/2006/main">
            <a:off x="9386127" y="1476375"/>
            <a:ext cx="2135121" cy="46196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F42627F-3F78-4295-852C-D843C7C828D3}"/>
              </a:ext>
            </a:extLst>
          </p:cNvPr>
          <p:cNvSpPr>
            <a:spLocks xmlns:a="http://schemas.openxmlformats.org/drawingml/2006/main" noGrp="1"/>
          </p:cNvSpPr>
          <p:nvPr/>
        </p:nvSpPr>
        <p:spPr>
          <a:xfrm xmlns:a="http://schemas.openxmlformats.org/drawingml/2006/main">
            <a:off x="619125" y="61912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73728"/>
                </a:solidFill>
                <a:latin typeface="Arial"/>
                <a:ea typeface="Arial"/>
                <a:cs typeface="Arial"/>
              </a:defRPr>
            </a:defPPr>
          </a:lstStyle>
          <a:p xmlns:a="http://schemas.openxmlformats.org/drawingml/2006/main">
            <a:pPr>
              <a:defRPr sz="1500" b="0">
                <a:solidFill>
                  <a:srgbClr val="173728"/>
                </a:solidFill>
                <a:latin typeface="Arial"/>
                <a:ea typeface="Arial"/>
                <a:cs typeface="Arial"/>
              </a:defRPr>
            </a:pPr>
            <a:r>
              <a:rPr sz="1500" b="0">
                <a:solidFill>
                  <a:srgbClr val="173728"/>
                </a:solidFill>
                <a:latin typeface="Arial"/>
                <a:ea typeface="Arial"/>
                <a:cs typeface="Arial"/>
              </a:rPr>
              <a:t>Selected products, quantities, totals, and checkout access</a:t>
            </a:r>
          </a:p>
        </p:txBody>
      </p:sp>
      <p:sp>
        <p:nvSpPr>
          <p:cNvPr id="7" name="">
            <a:extLst xmlns:a="http://schemas.openxmlformats.org/drawingml/2006/main">
              <a:ext uri="{FF2B5EF4-FFF2-40B4-BE49-F238E27FC236}">
                <a16:creationId xmlns:a16="http://schemas.microsoft.com/office/drawing/2014/main" id="{B0EFA179-BE8B-487E-8CBC-DCD27325D911}"/>
              </a:ext>
            </a:extLst>
          </p:cNvPr>
          <p:cNvSpPr>
            <a:spLocks xmlns:a="http://schemas.openxmlformats.org/drawingml/2006/main" noGrp="1"/>
          </p:cNvSpPr>
          <p:nvPr/>
        </p:nvSpPr>
        <p:spPr>
          <a:xfrm xmlns:a="http://schemas.openxmlformats.org/drawingml/2006/main">
            <a:off x="619125" y="65341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06359"/>
                </a:solidFill>
                <a:latin typeface="Arial"/>
                <a:ea typeface="Arial"/>
                <a:cs typeface="Arial"/>
              </a:defRPr>
            </a:defPPr>
          </a:lstStyle>
          <a:p xmlns:a="http://schemas.openxmlformats.org/drawingml/2006/main">
            <a:pPr>
              <a:defRPr sz="1200" b="0">
                <a:solidFill>
                  <a:srgbClr val="506359"/>
                </a:solidFill>
                <a:latin typeface="Arial"/>
                <a:ea typeface="Arial"/>
                <a:cs typeface="Arial"/>
              </a:defRPr>
            </a:pPr>
            <a:r>
              <a:rPr sz="1200" b="0">
                <a:solidFill>
                  <a:srgbClr val="506359"/>
                </a:solidFill>
                <a:latin typeface="Arial"/>
                <a:ea typeface="Arial"/>
                <a:cs typeface="Arial"/>
              </a:rPr>
              <a:t>Local demo with sample records and placeholder product images</a:t>
            </a:r>
          </a:p>
        </p:txBody>
      </p:sp>
    </p:spTree>
    <p:extLst>
      <p:ext uri="{BB962C8B-B14F-4D97-AF65-F5344CB8AC3E}">
        <p14:creationId xmlns:p14="http://schemas.microsoft.com/office/powerpoint/2010/main" val="2072583693"/>
      </p:ext>
    </p:extLst>
  </p:cSld>
</p:sld>
</file>

<file path=ppt/slides/slide10.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0E76CC2-ECE8-46DA-BC15-4D84C4448C49}"/>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73728"/>
                </a:solidFill>
                <a:latin typeface="Arial"/>
                <a:ea typeface="Arial"/>
                <a:cs typeface="Arial"/>
              </a:defRPr>
            </a:defPPr>
          </a:lstStyle>
          <a:p xmlns:a="http://schemas.openxmlformats.org/drawingml/2006/main">
            <a:pPr>
              <a:buNone/>
              <a:defRPr sz="3300" b="1">
                <a:solidFill>
                  <a:srgbClr val="173728"/>
                </a:solidFill>
                <a:latin typeface="Arial"/>
                <a:ea typeface="Arial"/>
                <a:cs typeface="Arial"/>
              </a:defRPr>
            </a:pPr>
            <a:r>
              <a:rPr sz="3300" b="1">
                <a:solidFill>
                  <a:srgbClr val="173728"/>
                </a:solidFill>
                <a:latin typeface="Arial"/>
                <a:ea typeface="Arial"/>
                <a:cs typeface="Arial"/>
              </a:rPr>
              <a:t>Orders and customer updates</a:t>
            </a:r>
          </a:p>
        </p:txBody>
      </p:sp>
      <p:sp>
        <p:nvSpPr>
          <p:cNvPr id="2" name="">
            <a:extLst xmlns:a="http://schemas.openxmlformats.org/drawingml/2006/main">
              <a:ext uri="{FF2B5EF4-FFF2-40B4-BE49-F238E27FC236}">
                <a16:creationId xmlns:a16="http://schemas.microsoft.com/office/drawing/2014/main" id="{B9D543E5-A070-4505-A4C3-9BA9AAEC3692}"/>
              </a:ext>
            </a:extLst>
          </p:cNvPr>
          <p:cNvSpPr>
            <a:spLocks xmlns:a="http://schemas.openxmlformats.org/drawingml/2006/main" noGrp="1"/>
          </p:cNvSpPr>
          <p:nvPr/>
        </p:nvSpPr>
        <p:spPr>
          <a:xfrm xmlns:a="http://schemas.openxmlformats.org/drawingml/2006/main">
            <a:off x="10953750" y="62484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06359"/>
                </a:solidFill>
                <a:latin typeface="Arial"/>
                <a:ea typeface="Arial"/>
                <a:cs typeface="Arial"/>
              </a:defRPr>
            </a:defPPr>
          </a:lstStyle>
          <a:p xmlns:a="http://schemas.openxmlformats.org/drawingml/2006/main">
            <a:pPr>
              <a:buNone/>
              <a:defRPr sz="1275" b="0">
                <a:solidFill>
                  <a:srgbClr val="506359"/>
                </a:solidFill>
                <a:latin typeface="Arial"/>
                <a:ea typeface="Arial"/>
                <a:cs typeface="Arial"/>
              </a:defRPr>
            </a:pPr>
            <a:r>
              <a:rPr sz="1275" b="0">
                <a:solidFill>
                  <a:srgbClr val="506359"/>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36781CF4-EFD0-4F94-80A1-E52A731AE4C6}"/>
              </a:ext>
            </a:extLst>
          </p:cNvPr>
          <p:cNvSpPr>
            <a:spLocks xmlns:a="http://schemas.openxmlformats.org/drawingml/2006/main" noGrp="1"/>
          </p:cNvSpPr>
          <p:nvPr/>
        </p:nvSpPr>
        <p:spPr>
          <a:xfrm xmlns:a="http://schemas.openxmlformats.org/drawingml/2006/main">
            <a:off x="666750" y="1790700"/>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4F7D28"/>
                </a:solidFill>
                <a:latin typeface="Arial"/>
                <a:ea typeface="Arial"/>
                <a:cs typeface="Arial"/>
              </a:defRPr>
            </a:defPPr>
          </a:lstStyle>
          <a:p xmlns:a="http://schemas.openxmlformats.org/drawingml/2006/main">
            <a:pPr>
              <a:buNone/>
              <a:defRPr sz="2175" b="1">
                <a:solidFill>
                  <a:srgbClr val="4F7D28"/>
                </a:solidFill>
                <a:latin typeface="Arial"/>
                <a:ea typeface="Arial"/>
                <a:cs typeface="Arial"/>
              </a:defRPr>
            </a:pPr>
            <a:r>
              <a:rPr sz="2175" b="1">
                <a:solidFill>
                  <a:srgbClr val="4F7D28"/>
                </a:solidFill>
                <a:latin typeface="Arial"/>
                <a:ea typeface="Arial"/>
                <a:cs typeface="Arial"/>
              </a:rPr>
              <a:t>Customer actions</a:t>
            </a:r>
          </a:p>
        </p:txBody>
      </p:sp>
      <p:sp>
        <p:nvSpPr>
          <p:cNvPr id="4" name="">
            <a:extLst xmlns:a="http://schemas.openxmlformats.org/drawingml/2006/main">
              <a:ext uri="{FF2B5EF4-FFF2-40B4-BE49-F238E27FC236}">
                <a16:creationId xmlns:a16="http://schemas.microsoft.com/office/drawing/2014/main" id="{36074599-675F-4867-943B-10D06F530CB3}"/>
              </a:ext>
            </a:extLst>
          </p:cNvPr>
          <p:cNvSpPr>
            <a:spLocks xmlns:a="http://schemas.openxmlformats.org/drawingml/2006/main" noGrp="1"/>
          </p:cNvSpPr>
          <p:nvPr/>
        </p:nvSpPr>
        <p:spPr>
          <a:xfrm xmlns:a="http://schemas.openxmlformats.org/drawingml/2006/main">
            <a:off x="666750" y="2457450"/>
            <a:ext cx="495300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73728"/>
                </a:solidFill>
                <a:latin typeface="Arial"/>
                <a:ea typeface="Arial"/>
                <a:cs typeface="Arial"/>
              </a:defRPr>
            </a:defPPr>
          </a:lstStyle>
          <a:p xmlns:a="http://schemas.openxmlformats.org/drawingml/2006/main">
            <a:pPr marL="254000" indent="-127000">
              <a:spcAft>
                <a:spcPts val="1700"/>
              </a:spcAft>
              <a:buChar char="•"/>
              <a:defRPr sz="1950" b="0">
                <a:solidFill>
                  <a:srgbClr val="173728"/>
                </a:solidFill>
                <a:latin typeface="Arial"/>
                <a:ea typeface="Arial"/>
                <a:cs typeface="Arial"/>
              </a:defRPr>
            </a:pPr>
            <a:r>
              <a:rPr sz="1950">
                <a:solidFill>
                  <a:srgbClr val="173728"/>
                </a:solidFill>
                <a:latin typeface="Arial"/>
                <a:ea typeface="Arial"/>
                <a:cs typeface="Arial"/>
              </a:rPr>
              <a:t>View order history and details</a:t>
            </a:r>
          </a:p>
          <a:p xmlns:a="http://schemas.openxmlformats.org/drawingml/2006/main">
            <a:pPr marL="254000" indent="-127000">
              <a:spcAft>
                <a:spcPts val="1700"/>
              </a:spcAft>
              <a:buChar char="•"/>
              <a:defRPr sz="1950" b="0">
                <a:solidFill>
                  <a:srgbClr val="173728"/>
                </a:solidFill>
                <a:latin typeface="Arial"/>
                <a:ea typeface="Arial"/>
                <a:cs typeface="Arial"/>
              </a:defRPr>
            </a:pPr>
            <a:r>
              <a:rPr sz="1950">
                <a:solidFill>
                  <a:srgbClr val="173728"/>
                </a:solidFill>
                <a:latin typeface="Arial"/>
                <a:ea typeface="Arial"/>
                <a:cs typeface="Arial"/>
              </a:rPr>
              <a:t>Follow pending, shipped, and delivered statuses</a:t>
            </a:r>
          </a:p>
          <a:p xmlns:a="http://schemas.openxmlformats.org/drawingml/2006/main">
            <a:pPr marL="254000" indent="-127000">
              <a:spcAft>
                <a:spcPts val="1700"/>
              </a:spcAft>
              <a:buChar char="•"/>
              <a:defRPr sz="1950" b="0">
                <a:solidFill>
                  <a:srgbClr val="173728"/>
                </a:solidFill>
                <a:latin typeface="Arial"/>
                <a:ea typeface="Arial"/>
                <a:cs typeface="Arial"/>
              </a:defRPr>
            </a:pPr>
            <a:r>
              <a:rPr sz="1950">
                <a:solidFill>
                  <a:srgbClr val="173728"/>
                </a:solidFill>
                <a:latin typeface="Arial"/>
                <a:ea typeface="Arial"/>
                <a:cs typeface="Arial"/>
              </a:rPr>
              <a:t>Cancel pending orders with a reason</a:t>
            </a:r>
          </a:p>
        </p:txBody>
      </p:sp>
      <p:sp>
        <p:nvSpPr>
          <p:cNvPr id="5" name="">
            <a:extLst xmlns:a="http://schemas.openxmlformats.org/drawingml/2006/main">
              <a:ext uri="{FF2B5EF4-FFF2-40B4-BE49-F238E27FC236}">
                <a16:creationId xmlns:a16="http://schemas.microsoft.com/office/drawing/2014/main" id="{EA23228A-8995-4104-BC59-0EBD36445FD0}"/>
              </a:ext>
            </a:extLst>
          </p:cNvPr>
          <p:cNvSpPr>
            <a:spLocks xmlns:a="http://schemas.openxmlformats.org/drawingml/2006/main" noGrp="1"/>
          </p:cNvSpPr>
          <p:nvPr/>
        </p:nvSpPr>
        <p:spPr>
          <a:xfrm xmlns:a="http://schemas.openxmlformats.org/drawingml/2006/main">
            <a:off x="6477000" y="1790700"/>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4F7D28"/>
                </a:solidFill>
                <a:latin typeface="Arial"/>
                <a:ea typeface="Arial"/>
                <a:cs typeface="Arial"/>
              </a:defRPr>
            </a:defPPr>
          </a:lstStyle>
          <a:p xmlns:a="http://schemas.openxmlformats.org/drawingml/2006/main">
            <a:pPr>
              <a:buNone/>
              <a:defRPr sz="2175" b="1">
                <a:solidFill>
                  <a:srgbClr val="4F7D28"/>
                </a:solidFill>
                <a:latin typeface="Arial"/>
                <a:ea typeface="Arial"/>
                <a:cs typeface="Arial"/>
              </a:defRPr>
            </a:pPr>
            <a:r>
              <a:rPr sz="2175" b="1">
                <a:solidFill>
                  <a:srgbClr val="4F7D28"/>
                </a:solidFill>
                <a:latin typeface="Arial"/>
                <a:ea typeface="Arial"/>
                <a:cs typeface="Arial"/>
              </a:rPr>
              <a:t>Store actions</a:t>
            </a:r>
          </a:p>
        </p:txBody>
      </p:sp>
      <p:sp>
        <p:nvSpPr>
          <p:cNvPr id="6" name="">
            <a:extLst xmlns:a="http://schemas.openxmlformats.org/drawingml/2006/main">
              <a:ext uri="{FF2B5EF4-FFF2-40B4-BE49-F238E27FC236}">
                <a16:creationId xmlns:a16="http://schemas.microsoft.com/office/drawing/2014/main" id="{3D4231FD-07F8-4262-98C2-1FE539D9CF67}"/>
              </a:ext>
            </a:extLst>
          </p:cNvPr>
          <p:cNvSpPr>
            <a:spLocks xmlns:a="http://schemas.openxmlformats.org/drawingml/2006/main" noGrp="1"/>
          </p:cNvSpPr>
          <p:nvPr/>
        </p:nvSpPr>
        <p:spPr>
          <a:xfrm xmlns:a="http://schemas.openxmlformats.org/drawingml/2006/main">
            <a:off x="6477000" y="2457450"/>
            <a:ext cx="495300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73728"/>
                </a:solidFill>
                <a:latin typeface="Arial"/>
                <a:ea typeface="Arial"/>
                <a:cs typeface="Arial"/>
              </a:defRPr>
            </a:defPPr>
          </a:lstStyle>
          <a:p xmlns:a="http://schemas.openxmlformats.org/drawingml/2006/main">
            <a:pPr marL="254000" indent="-127000">
              <a:spcAft>
                <a:spcPts val="1700"/>
              </a:spcAft>
              <a:buChar char="•"/>
              <a:defRPr sz="1950" b="0">
                <a:solidFill>
                  <a:srgbClr val="173728"/>
                </a:solidFill>
                <a:latin typeface="Arial"/>
                <a:ea typeface="Arial"/>
                <a:cs typeface="Arial"/>
              </a:defRPr>
            </a:pPr>
            <a:r>
              <a:rPr sz="1950">
                <a:solidFill>
                  <a:srgbClr val="173728"/>
                </a:solidFill>
                <a:latin typeface="Arial"/>
                <a:ea typeface="Arial"/>
                <a:cs typeface="Arial"/>
              </a:rPr>
              <a:t>Create customer orders</a:t>
            </a:r>
          </a:p>
          <a:p xmlns:a="http://schemas.openxmlformats.org/drawingml/2006/main">
            <a:pPr marL="254000" indent="-127000">
              <a:spcAft>
                <a:spcPts val="1700"/>
              </a:spcAft>
              <a:buChar char="•"/>
              <a:defRPr sz="1950" b="0">
                <a:solidFill>
                  <a:srgbClr val="173728"/>
                </a:solidFill>
                <a:latin typeface="Arial"/>
                <a:ea typeface="Arial"/>
                <a:cs typeface="Arial"/>
              </a:defRPr>
            </a:pPr>
            <a:r>
              <a:rPr sz="1950">
                <a:solidFill>
                  <a:srgbClr val="173728"/>
                </a:solidFill>
                <a:latin typeface="Arial"/>
                <a:ea typeface="Arial"/>
                <a:cs typeface="Arial"/>
              </a:rPr>
              <a:t>Update fulfillment and payment status</a:t>
            </a:r>
          </a:p>
          <a:p xmlns:a="http://schemas.openxmlformats.org/drawingml/2006/main">
            <a:pPr marL="254000" indent="-127000">
              <a:spcAft>
                <a:spcPts val="1700"/>
              </a:spcAft>
              <a:buChar char="•"/>
              <a:defRPr sz="1950" b="0">
                <a:solidFill>
                  <a:srgbClr val="173728"/>
                </a:solidFill>
                <a:latin typeface="Arial"/>
                <a:ea typeface="Arial"/>
                <a:cs typeface="Arial"/>
              </a:defRPr>
            </a:pPr>
            <a:r>
              <a:rPr sz="1950">
                <a:solidFill>
                  <a:srgbClr val="173728"/>
                </a:solidFill>
                <a:latin typeface="Arial"/>
                <a:ea typeface="Arial"/>
                <a:cs typeface="Arial"/>
              </a:rPr>
              <a:t>Cancel individual items and restore stock</a:t>
            </a:r>
          </a:p>
        </p:txBody>
      </p:sp>
    </p:spTree>
    <p:extLst>
      <p:ext uri="{BB962C8B-B14F-4D97-AF65-F5344CB8AC3E}">
        <p14:creationId xmlns:p14="http://schemas.microsoft.com/office/powerpoint/2010/main" val="239261971"/>
      </p:ext>
    </p:extLst>
  </p:cSld>
</p:sld>
</file>

<file path=ppt/slides/slide11.xml><?xml version="1.0" encoding="utf-8"?>
<p:sld xmlns:p="http://schemas.openxmlformats.org/presentationml/2006/main">
  <p:cSld>
    <p:bg>
      <p:bgPr>
        <a:solidFill xmlns:a="http://schemas.openxmlformats.org/drawingml/2006/main">
          <a:srgbClr val="17372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52BEB0E-1B3B-466E-9E01-22143C6B6078}"/>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FFFFFF"/>
                </a:solidFill>
                <a:latin typeface="Arial"/>
                <a:ea typeface="Arial"/>
                <a:cs typeface="Arial"/>
              </a:defRPr>
            </a:defPPr>
          </a:lstStyle>
          <a:p xmlns:a="http://schemas.openxmlformats.org/drawingml/2006/main">
            <a:pPr>
              <a:buNone/>
              <a:defRPr sz="3300" b="1">
                <a:solidFill>
                  <a:srgbClr val="FFFFFF"/>
                </a:solidFill>
                <a:latin typeface="Arial"/>
                <a:ea typeface="Arial"/>
                <a:cs typeface="Arial"/>
              </a:defRPr>
            </a:pPr>
            <a:r>
              <a:rPr sz="3300" b="1">
                <a:solidFill>
                  <a:srgbClr val="FFFFFF"/>
                </a:solidFill>
                <a:latin typeface="Arial"/>
                <a:ea typeface="Arial"/>
                <a:cs typeface="Arial"/>
              </a:rPr>
              <a:t>Prescription submissions</a:t>
            </a:r>
          </a:p>
        </p:txBody>
      </p:sp>
      <p:sp>
        <p:nvSpPr>
          <p:cNvPr id="2" name="">
            <a:extLst xmlns:a="http://schemas.openxmlformats.org/drawingml/2006/main">
              <a:ext uri="{FF2B5EF4-FFF2-40B4-BE49-F238E27FC236}">
                <a16:creationId xmlns:a16="http://schemas.microsoft.com/office/drawing/2014/main" id="{DE94E823-D83F-4208-906E-04CA45ABC322}"/>
              </a:ext>
            </a:extLst>
          </p:cNvPr>
          <p:cNvSpPr>
            <a:spLocks xmlns:a="http://schemas.openxmlformats.org/drawingml/2006/main" noGrp="1"/>
          </p:cNvSpPr>
          <p:nvPr/>
        </p:nvSpPr>
        <p:spPr>
          <a:xfrm xmlns:a="http://schemas.openxmlformats.org/drawingml/2006/main">
            <a:off x="10953750" y="62484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BED5B2"/>
                </a:solidFill>
                <a:latin typeface="Arial"/>
                <a:ea typeface="Arial"/>
                <a:cs typeface="Arial"/>
              </a:defRPr>
            </a:defPPr>
          </a:lstStyle>
          <a:p xmlns:a="http://schemas.openxmlformats.org/drawingml/2006/main">
            <a:pPr>
              <a:buNone/>
              <a:defRPr sz="1275" b="0">
                <a:solidFill>
                  <a:srgbClr val="BED5B2"/>
                </a:solidFill>
                <a:latin typeface="Arial"/>
                <a:ea typeface="Arial"/>
                <a:cs typeface="Arial"/>
              </a:defRPr>
            </a:pPr>
            <a:r>
              <a:rPr sz="1275" b="0">
                <a:solidFill>
                  <a:srgbClr val="BED5B2"/>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0363413D-CC4F-451B-A03D-EEA258821955}"/>
              </a:ext>
            </a:extLst>
          </p:cNvPr>
          <p:cNvSpPr>
            <a:spLocks xmlns:a="http://schemas.openxmlformats.org/drawingml/2006/main" noGrp="1"/>
          </p:cNvSpPr>
          <p:nvPr/>
        </p:nvSpPr>
        <p:spPr>
          <a:xfrm xmlns:a="http://schemas.openxmlformats.org/drawingml/2006/main">
            <a:off x="666750" y="1943100"/>
            <a:ext cx="106680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FFFFF"/>
                </a:solidFill>
                <a:latin typeface="Arial"/>
                <a:ea typeface="Arial"/>
                <a:cs typeface="Arial"/>
              </a:defRPr>
            </a:defPPr>
          </a:lstStyle>
          <a:p xmlns:a="http://schemas.openxmlformats.org/drawingml/2006/main">
            <a:pPr marL="254000" indent="-127000">
              <a:spcAft>
                <a:spcPts val="1700"/>
              </a:spcAft>
              <a:buChar char="•"/>
              <a:defRPr sz="2175" b="0">
                <a:solidFill>
                  <a:srgbClr val="FFFFFF"/>
                </a:solidFill>
                <a:latin typeface="Arial"/>
                <a:ea typeface="Arial"/>
                <a:cs typeface="Arial"/>
              </a:defRPr>
            </a:pPr>
            <a:r>
              <a:rPr sz="2175">
                <a:solidFill>
                  <a:srgbClr val="FFFFFF"/>
                </a:solidFill>
                <a:latin typeface="Arial"/>
                <a:ea typeface="Arial"/>
                <a:cs typeface="Arial"/>
              </a:rPr>
              <a:t>Upload a prescription image with contact information</a:t>
            </a:r>
          </a:p>
          <a:p xmlns:a="http://schemas.openxmlformats.org/drawingml/2006/main">
            <a:pPr marL="254000" indent="-127000">
              <a:spcAft>
                <a:spcPts val="1700"/>
              </a:spcAft>
              <a:buChar char="•"/>
              <a:defRPr sz="2175" b="0">
                <a:solidFill>
                  <a:srgbClr val="FFFFFF"/>
                </a:solidFill>
                <a:latin typeface="Arial"/>
                <a:ea typeface="Arial"/>
                <a:cs typeface="Arial"/>
              </a:defRPr>
            </a:pPr>
            <a:r>
              <a:rPr sz="2175">
                <a:solidFill>
                  <a:srgbClr val="FFFFFF"/>
                </a:solidFill>
                <a:latin typeface="Arial"/>
                <a:ea typeface="Arial"/>
                <a:cs typeface="Arial"/>
              </a:rPr>
              <a:t>Provide an address and map coordinates</a:t>
            </a:r>
          </a:p>
          <a:p xmlns:a="http://schemas.openxmlformats.org/drawingml/2006/main">
            <a:pPr marL="254000" indent="-127000">
              <a:spcAft>
                <a:spcPts val="1700"/>
              </a:spcAft>
              <a:buChar char="•"/>
              <a:defRPr sz="2175" b="0">
                <a:solidFill>
                  <a:srgbClr val="FFFFFF"/>
                </a:solidFill>
                <a:latin typeface="Arial"/>
                <a:ea typeface="Arial"/>
                <a:cs typeface="Arial"/>
              </a:defRPr>
            </a:pPr>
            <a:r>
              <a:rPr sz="2175">
                <a:solidFill>
                  <a:srgbClr val="FFFFFF"/>
                </a:solidFill>
                <a:latin typeface="Arial"/>
                <a:ea typeface="Arial"/>
                <a:cs typeface="Arial"/>
              </a:rPr>
              <a:t>Submit through an API that supports guests</a:t>
            </a:r>
          </a:p>
          <a:p xmlns:a="http://schemas.openxmlformats.org/drawingml/2006/main">
            <a:pPr marL="254000" indent="-127000">
              <a:spcAft>
                <a:spcPts val="1700"/>
              </a:spcAft>
              <a:buChar char="•"/>
              <a:defRPr sz="2175" b="0">
                <a:solidFill>
                  <a:srgbClr val="FFFFFF"/>
                </a:solidFill>
                <a:latin typeface="Arial"/>
                <a:ea typeface="Arial"/>
                <a:cs typeface="Arial"/>
              </a:defRPr>
            </a:pPr>
            <a:r>
              <a:rPr sz="2175">
                <a:solidFill>
                  <a:srgbClr val="FFFFFF"/>
                </a:solidFill>
                <a:latin typeface="Arial"/>
                <a:ea typeface="Arial"/>
                <a:cs typeface="Arial"/>
              </a:rPr>
              <a:t>Staff review submissions and add notes</a:t>
            </a:r>
          </a:p>
          <a:p xmlns:a="http://schemas.openxmlformats.org/drawingml/2006/main">
            <a:pPr marL="254000" indent="-127000">
              <a:spcAft>
                <a:spcPts val="1700"/>
              </a:spcAft>
              <a:buChar char="•"/>
              <a:defRPr sz="2175" b="0">
                <a:solidFill>
                  <a:srgbClr val="FFFFFF"/>
                </a:solidFill>
                <a:latin typeface="Arial"/>
                <a:ea typeface="Arial"/>
                <a:cs typeface="Arial"/>
              </a:defRPr>
            </a:pPr>
            <a:r>
              <a:rPr sz="2175">
                <a:solidFill>
                  <a:srgbClr val="FFFFFF"/>
                </a:solidFill>
                <a:latin typeface="Arial"/>
                <a:ea typeface="Arial"/>
                <a:cs typeface="Arial"/>
              </a:rPr>
              <a:t>Track pending, processing, completed, or rejected status</a:t>
            </a:r>
          </a:p>
        </p:txBody>
      </p:sp>
    </p:spTree>
    <p:extLst>
      <p:ext uri="{BB962C8B-B14F-4D97-AF65-F5344CB8AC3E}">
        <p14:creationId xmlns:p14="http://schemas.microsoft.com/office/powerpoint/2010/main" val="1399709416"/>
      </p:ext>
    </p:extLst>
  </p:cSld>
</p:sld>
</file>

<file path=ppt/slides/slide12.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080558C-9507-4E02-A57B-D19622ED6D7C}"/>
              </a:ext>
            </a:extLst>
          </p:cNvPr>
          <p:cNvSpPr>
            <a:spLocks xmlns:a="http://schemas.openxmlformats.org/drawingml/2006/main" noGrp="1"/>
          </p:cNvSpPr>
          <p:nvPr/>
        </p:nvSpPr>
        <p:spPr>
          <a:xfrm xmlns:a="http://schemas.openxmlformats.org/drawingml/2006/main">
            <a:off x="619125" y="3619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173728"/>
                </a:solidFill>
                <a:latin typeface="Arial"/>
                <a:ea typeface="Arial"/>
                <a:cs typeface="Arial"/>
              </a:defRPr>
            </a:defPPr>
          </a:lstStyle>
          <a:p xmlns:a="http://schemas.openxmlformats.org/drawingml/2006/main">
            <a:pPr>
              <a:defRPr sz="2850" b="1">
                <a:solidFill>
                  <a:srgbClr val="173728"/>
                </a:solidFill>
                <a:latin typeface="Arial"/>
                <a:ea typeface="Arial"/>
                <a:cs typeface="Arial"/>
              </a:defRPr>
            </a:pPr>
            <a:r>
              <a:rPr sz="2850" b="1">
                <a:solidFill>
                  <a:srgbClr val="173728"/>
                </a:solidFill>
                <a:latin typeface="Arial"/>
                <a:ea typeface="Arial"/>
                <a:cs typeface="Arial"/>
              </a:rPr>
              <a:t>Prescription upload on desktop and mobile</a:t>
            </a:r>
          </a:p>
        </p:txBody>
      </p:sp>
      <p:sp>
        <p:nvSpPr>
          <p:cNvPr id="2" name="">
            <a:extLst xmlns:a="http://schemas.openxmlformats.org/drawingml/2006/main">
              <a:ext uri="{FF2B5EF4-FFF2-40B4-BE49-F238E27FC236}">
                <a16:creationId xmlns:a16="http://schemas.microsoft.com/office/drawing/2014/main" id="{34F0D058-88A2-4E3A-9DCF-5ADDCD6B8731}"/>
              </a:ext>
            </a:extLst>
          </p:cNvPr>
          <p:cNvSpPr>
            <a:spLocks xmlns:a="http://schemas.openxmlformats.org/drawingml/2006/main" noGrp="1"/>
          </p:cNvSpPr>
          <p:nvPr/>
        </p:nvSpPr>
        <p:spPr>
          <a:xfrm xmlns:a="http://schemas.openxmlformats.org/drawingml/2006/main">
            <a:off x="619125" y="1123950"/>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06359"/>
                </a:solidFill>
                <a:latin typeface="Arial"/>
                <a:ea typeface="Arial"/>
                <a:cs typeface="Arial"/>
              </a:defRPr>
            </a:defPPr>
          </a:lstStyle>
          <a:p xmlns:a="http://schemas.openxmlformats.org/drawingml/2006/main">
            <a:pPr>
              <a:defRPr sz="1500" b="0">
                <a:solidFill>
                  <a:srgbClr val="506359"/>
                </a:solidFill>
                <a:latin typeface="Arial"/>
                <a:ea typeface="Arial"/>
                <a:cs typeface="Arial"/>
              </a:defRPr>
            </a:pPr>
            <a:r>
              <a:rPr sz="1500" b="0">
                <a:solidFill>
                  <a:srgbClr val="506359"/>
                </a:solidFill>
                <a:latin typeface="Arial"/>
                <a:ea typeface="Arial"/>
                <a:cs typeface="Arial"/>
              </a:rPr>
              <a:t>Desktop</a:t>
            </a:r>
          </a:p>
        </p:txBody>
      </p:sp>
      <p:sp>
        <p:nvSpPr>
          <p:cNvPr id="3" name="">
            <a:extLst xmlns:a="http://schemas.openxmlformats.org/drawingml/2006/main">
              <a:ext uri="{FF2B5EF4-FFF2-40B4-BE49-F238E27FC236}">
                <a16:creationId xmlns:a16="http://schemas.microsoft.com/office/drawing/2014/main" id="{4DC1E900-D211-4829-83DE-3F65B9AB0EAA}"/>
              </a:ext>
            </a:extLst>
          </p:cNvPr>
          <p:cNvSpPr>
            <a:spLocks xmlns:a="http://schemas.openxmlformats.org/drawingml/2006/main" noGrp="1"/>
          </p:cNvSpPr>
          <p:nvPr/>
        </p:nvSpPr>
        <p:spPr>
          <a:xfrm xmlns:a="http://schemas.openxmlformats.org/drawingml/2006/main">
            <a:off x="9353550" y="1123950"/>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06359"/>
                </a:solidFill>
                <a:latin typeface="Arial"/>
                <a:ea typeface="Arial"/>
                <a:cs typeface="Arial"/>
              </a:defRPr>
            </a:defPPr>
          </a:lstStyle>
          <a:p xmlns:a="http://schemas.openxmlformats.org/drawingml/2006/main">
            <a:pPr>
              <a:defRPr sz="1500" b="0">
                <a:solidFill>
                  <a:srgbClr val="506359"/>
                </a:solidFill>
                <a:latin typeface="Arial"/>
                <a:ea typeface="Arial"/>
                <a:cs typeface="Arial"/>
              </a:defRPr>
            </a:pPr>
            <a:r>
              <a:rPr sz="1500" b="0">
                <a:solidFill>
                  <a:srgbClr val="506359"/>
                </a:solidFill>
                <a:latin typeface="Arial"/>
                <a:ea typeface="Arial"/>
                <a:cs typeface="Arial"/>
              </a:rPr>
              <a:t>Mobile</a:t>
            </a:r>
          </a:p>
        </p:txBody>
      </p:sp>
      <p:pic>
        <p:nvPicPr>
          <p:cNvPr id="4" name="">
            <a:extLst xmlns:a="http://schemas.openxmlformats.org/drawingml/2006/main">
              <a:ext uri="{FF2B5EF4-FFF2-40B4-BE49-F238E27FC236}">
                <a16:creationId xmlns:a16="http://schemas.microsoft.com/office/drawing/2014/main" id="{EAE48718-CF65-40A3-9DF4-82A832FCC5E0}"/>
              </a:ext>
            </a:extLst>
          </p:cNvPr>
          <p:cNvPicPr>
            <a:picLocks xmlns:a="http://schemas.openxmlformats.org/drawingml/2006/main" noChangeAspect="1"/>
          </p:cNvPicPr>
          <p:nvPr/>
        </p:nvPicPr>
        <p:blipFill>
          <a:blip xmlns:r="http://schemas.openxmlformats.org/officeDocument/2006/relationships" xmlns:a="http://schemas.openxmlformats.org/drawingml/2006/main" r:embed="Re1d9ce64ecf6471a"/>
          <a:stretch xmlns:a="http://schemas.openxmlformats.org/drawingml/2006/main"/>
        </p:blipFill>
        <p:spPr>
          <a:xfrm xmlns:a="http://schemas.openxmlformats.org/drawingml/2006/main">
            <a:off x="1191129" y="1524000"/>
            <a:ext cx="7237991" cy="4524375"/>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BA79F150-FC9B-4095-BA18-587D15EE69F1}"/>
              </a:ext>
            </a:extLst>
          </p:cNvPr>
          <p:cNvPicPr>
            <a:picLocks xmlns:a="http://schemas.openxmlformats.org/drawingml/2006/main" noChangeAspect="1"/>
          </p:cNvPicPr>
          <p:nvPr/>
        </p:nvPicPr>
        <p:blipFill>
          <a:blip xmlns:r="http://schemas.openxmlformats.org/officeDocument/2006/relationships" xmlns:a="http://schemas.openxmlformats.org/drawingml/2006/main" r:embed="Ra3dfab6540244c41"/>
          <a:stretch xmlns:a="http://schemas.openxmlformats.org/drawingml/2006/main"/>
        </p:blipFill>
        <p:spPr>
          <a:xfrm xmlns:a="http://schemas.openxmlformats.org/drawingml/2006/main">
            <a:off x="9386127" y="1476375"/>
            <a:ext cx="2135121" cy="46196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406C4FB-49E1-412E-9C01-072BE1BB69C7}"/>
              </a:ext>
            </a:extLst>
          </p:cNvPr>
          <p:cNvSpPr>
            <a:spLocks xmlns:a="http://schemas.openxmlformats.org/drawingml/2006/main" noGrp="1"/>
          </p:cNvSpPr>
          <p:nvPr/>
        </p:nvSpPr>
        <p:spPr>
          <a:xfrm xmlns:a="http://schemas.openxmlformats.org/drawingml/2006/main">
            <a:off x="619125" y="61912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73728"/>
                </a:solidFill>
                <a:latin typeface="Arial"/>
                <a:ea typeface="Arial"/>
                <a:cs typeface="Arial"/>
              </a:defRPr>
            </a:defPPr>
          </a:lstStyle>
          <a:p xmlns:a="http://schemas.openxmlformats.org/drawingml/2006/main">
            <a:pPr>
              <a:defRPr sz="1500" b="0">
                <a:solidFill>
                  <a:srgbClr val="173728"/>
                </a:solidFill>
                <a:latin typeface="Arial"/>
                <a:ea typeface="Arial"/>
                <a:cs typeface="Arial"/>
              </a:defRPr>
            </a:pPr>
            <a:r>
              <a:rPr sz="1500" b="0">
                <a:solidFill>
                  <a:srgbClr val="173728"/>
                </a:solidFill>
                <a:latin typeface="Arial"/>
                <a:ea typeface="Arial"/>
                <a:cs typeface="Arial"/>
              </a:rPr>
              <a:t>Prescription image upload and delivery information</a:t>
            </a:r>
          </a:p>
        </p:txBody>
      </p:sp>
      <p:sp>
        <p:nvSpPr>
          <p:cNvPr id="7" name="">
            <a:extLst xmlns:a="http://schemas.openxmlformats.org/drawingml/2006/main">
              <a:ext uri="{FF2B5EF4-FFF2-40B4-BE49-F238E27FC236}">
                <a16:creationId xmlns:a16="http://schemas.microsoft.com/office/drawing/2014/main" id="{203F2905-E345-44BF-90A5-6562781E1530}"/>
              </a:ext>
            </a:extLst>
          </p:cNvPr>
          <p:cNvSpPr>
            <a:spLocks xmlns:a="http://schemas.openxmlformats.org/drawingml/2006/main" noGrp="1"/>
          </p:cNvSpPr>
          <p:nvPr/>
        </p:nvSpPr>
        <p:spPr>
          <a:xfrm xmlns:a="http://schemas.openxmlformats.org/drawingml/2006/main">
            <a:off x="619125" y="65341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06359"/>
                </a:solidFill>
                <a:latin typeface="Arial"/>
                <a:ea typeface="Arial"/>
                <a:cs typeface="Arial"/>
              </a:defRPr>
            </a:defPPr>
          </a:lstStyle>
          <a:p xmlns:a="http://schemas.openxmlformats.org/drawingml/2006/main">
            <a:pPr>
              <a:defRPr sz="1200" b="0">
                <a:solidFill>
                  <a:srgbClr val="506359"/>
                </a:solidFill>
                <a:latin typeface="Arial"/>
                <a:ea typeface="Arial"/>
                <a:cs typeface="Arial"/>
              </a:defRPr>
            </a:pPr>
            <a:r>
              <a:rPr sz="1200" b="0">
                <a:solidFill>
                  <a:srgbClr val="506359"/>
                </a:solidFill>
                <a:latin typeface="Arial"/>
                <a:ea typeface="Arial"/>
                <a:cs typeface="Arial"/>
              </a:rPr>
              <a:t>Local demo with sample records and placeholder product images</a:t>
            </a:r>
          </a:p>
        </p:txBody>
      </p:sp>
    </p:spTree>
    <p:extLst>
      <p:ext uri="{BB962C8B-B14F-4D97-AF65-F5344CB8AC3E}">
        <p14:creationId xmlns:p14="http://schemas.microsoft.com/office/powerpoint/2010/main" val="749656539"/>
      </p:ext>
    </p:extLst>
  </p:cSld>
</p:sld>
</file>

<file path=ppt/slides/slide13.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1153F78-33FA-4BF2-9ED5-25033309D6F5}"/>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73728"/>
                </a:solidFill>
                <a:latin typeface="Arial"/>
                <a:ea typeface="Arial"/>
                <a:cs typeface="Arial"/>
              </a:defRPr>
            </a:defPPr>
          </a:lstStyle>
          <a:p xmlns:a="http://schemas.openxmlformats.org/drawingml/2006/main">
            <a:pPr>
              <a:buNone/>
              <a:defRPr sz="3300" b="1">
                <a:solidFill>
                  <a:srgbClr val="173728"/>
                </a:solidFill>
                <a:latin typeface="Arial"/>
                <a:ea typeface="Arial"/>
                <a:cs typeface="Arial"/>
              </a:defRPr>
            </a:pPr>
            <a:r>
              <a:rPr sz="3300" b="1">
                <a:solidFill>
                  <a:srgbClr val="173728"/>
                </a:solidFill>
                <a:latin typeface="Arial"/>
                <a:ea typeface="Arial"/>
                <a:cs typeface="Arial"/>
              </a:rPr>
              <a:t>Catalog and inventory administration</a:t>
            </a:r>
          </a:p>
        </p:txBody>
      </p:sp>
      <p:sp>
        <p:nvSpPr>
          <p:cNvPr id="2" name="">
            <a:extLst xmlns:a="http://schemas.openxmlformats.org/drawingml/2006/main">
              <a:ext uri="{FF2B5EF4-FFF2-40B4-BE49-F238E27FC236}">
                <a16:creationId xmlns:a16="http://schemas.microsoft.com/office/drawing/2014/main" id="{10F48839-666A-4623-A3E9-CF86BB474552}"/>
              </a:ext>
            </a:extLst>
          </p:cNvPr>
          <p:cNvSpPr>
            <a:spLocks xmlns:a="http://schemas.openxmlformats.org/drawingml/2006/main" noGrp="1"/>
          </p:cNvSpPr>
          <p:nvPr/>
        </p:nvSpPr>
        <p:spPr>
          <a:xfrm xmlns:a="http://schemas.openxmlformats.org/drawingml/2006/main">
            <a:off x="10953750" y="62484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06359"/>
                </a:solidFill>
                <a:latin typeface="Arial"/>
                <a:ea typeface="Arial"/>
                <a:cs typeface="Arial"/>
              </a:defRPr>
            </a:defPPr>
          </a:lstStyle>
          <a:p xmlns:a="http://schemas.openxmlformats.org/drawingml/2006/main">
            <a:pPr>
              <a:buNone/>
              <a:defRPr sz="1275" b="0">
                <a:solidFill>
                  <a:srgbClr val="506359"/>
                </a:solidFill>
                <a:latin typeface="Arial"/>
                <a:ea typeface="Arial"/>
                <a:cs typeface="Arial"/>
              </a:defRPr>
            </a:pPr>
            <a:r>
              <a:rPr sz="1275" b="0">
                <a:solidFill>
                  <a:srgbClr val="506359"/>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CB39B897-C6B5-4581-ADF7-A66D4A699AEA}"/>
              </a:ext>
            </a:extLst>
          </p:cNvPr>
          <p:cNvSpPr>
            <a:spLocks xmlns:a="http://schemas.openxmlformats.org/drawingml/2006/main" noGrp="1"/>
          </p:cNvSpPr>
          <p:nvPr/>
        </p:nvSpPr>
        <p:spPr>
          <a:xfrm xmlns:a="http://schemas.openxmlformats.org/drawingml/2006/main">
            <a:off x="666750" y="1790700"/>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4F7D28"/>
                </a:solidFill>
                <a:latin typeface="Arial"/>
                <a:ea typeface="Arial"/>
                <a:cs typeface="Arial"/>
              </a:defRPr>
            </a:defPPr>
          </a:lstStyle>
          <a:p xmlns:a="http://schemas.openxmlformats.org/drawingml/2006/main">
            <a:pPr>
              <a:buNone/>
              <a:defRPr sz="2175" b="1">
                <a:solidFill>
                  <a:srgbClr val="4F7D28"/>
                </a:solidFill>
                <a:latin typeface="Arial"/>
                <a:ea typeface="Arial"/>
                <a:cs typeface="Arial"/>
              </a:defRPr>
            </a:pPr>
            <a:r>
              <a:rPr sz="2175" b="1">
                <a:solidFill>
                  <a:srgbClr val="4F7D28"/>
                </a:solidFill>
                <a:latin typeface="Arial"/>
                <a:ea typeface="Arial"/>
                <a:cs typeface="Arial"/>
              </a:rPr>
              <a:t>Catalog management</a:t>
            </a:r>
          </a:p>
        </p:txBody>
      </p:sp>
      <p:sp>
        <p:nvSpPr>
          <p:cNvPr id="4" name="">
            <a:extLst xmlns:a="http://schemas.openxmlformats.org/drawingml/2006/main">
              <a:ext uri="{FF2B5EF4-FFF2-40B4-BE49-F238E27FC236}">
                <a16:creationId xmlns:a16="http://schemas.microsoft.com/office/drawing/2014/main" id="{B9BB9EEE-E039-4467-A94F-C23BCADFDC36}"/>
              </a:ext>
            </a:extLst>
          </p:cNvPr>
          <p:cNvSpPr>
            <a:spLocks xmlns:a="http://schemas.openxmlformats.org/drawingml/2006/main" noGrp="1"/>
          </p:cNvSpPr>
          <p:nvPr/>
        </p:nvSpPr>
        <p:spPr>
          <a:xfrm xmlns:a="http://schemas.openxmlformats.org/drawingml/2006/main">
            <a:off x="666750" y="2457450"/>
            <a:ext cx="495300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73728"/>
                </a:solidFill>
                <a:latin typeface="Arial"/>
                <a:ea typeface="Arial"/>
                <a:cs typeface="Arial"/>
              </a:defRPr>
            </a:defPPr>
          </a:lstStyle>
          <a:p xmlns:a="http://schemas.openxmlformats.org/drawingml/2006/main">
            <a:pPr marL="254000" indent="-127000">
              <a:spcAft>
                <a:spcPts val="1700"/>
              </a:spcAft>
              <a:buChar char="•"/>
              <a:defRPr sz="1950" b="0">
                <a:solidFill>
                  <a:srgbClr val="173728"/>
                </a:solidFill>
                <a:latin typeface="Arial"/>
                <a:ea typeface="Arial"/>
                <a:cs typeface="Arial"/>
              </a:defRPr>
            </a:pPr>
            <a:r>
              <a:rPr sz="1950">
                <a:solidFill>
                  <a:srgbClr val="173728"/>
                </a:solidFill>
                <a:latin typeface="Arial"/>
                <a:ea typeface="Arial"/>
                <a:cs typeface="Arial"/>
              </a:rPr>
              <a:t>Product creation, editing, and deletion</a:t>
            </a:r>
          </a:p>
          <a:p xmlns:a="http://schemas.openxmlformats.org/drawingml/2006/main">
            <a:pPr marL="254000" indent="-127000">
              <a:spcAft>
                <a:spcPts val="1700"/>
              </a:spcAft>
              <a:buChar char="•"/>
              <a:defRPr sz="1950" b="0">
                <a:solidFill>
                  <a:srgbClr val="173728"/>
                </a:solidFill>
                <a:latin typeface="Arial"/>
                <a:ea typeface="Arial"/>
                <a:cs typeface="Arial"/>
              </a:defRPr>
            </a:pPr>
            <a:r>
              <a:rPr sz="1950">
                <a:solidFill>
                  <a:srgbClr val="173728"/>
                </a:solidFill>
                <a:latin typeface="Arial"/>
                <a:ea typeface="Arial"/>
                <a:cs typeface="Arial"/>
              </a:rPr>
              <a:t>Multiple product images</a:t>
            </a:r>
          </a:p>
          <a:p xmlns:a="http://schemas.openxmlformats.org/drawingml/2006/main">
            <a:pPr marL="254000" indent="-127000">
              <a:spcAft>
                <a:spcPts val="1700"/>
              </a:spcAft>
              <a:buChar char="•"/>
              <a:defRPr sz="1950" b="0">
                <a:solidFill>
                  <a:srgbClr val="173728"/>
                </a:solidFill>
                <a:latin typeface="Arial"/>
                <a:ea typeface="Arial"/>
                <a:cs typeface="Arial"/>
              </a:defRPr>
            </a:pPr>
            <a:r>
              <a:rPr sz="1950">
                <a:solidFill>
                  <a:srgbClr val="173728"/>
                </a:solidFill>
                <a:latin typeface="Arial"/>
                <a:ea typeface="Arial"/>
                <a:cs typeface="Arial"/>
              </a:rPr>
              <a:t>Rich-text product detail sections</a:t>
            </a:r>
          </a:p>
          <a:p xmlns:a="http://schemas.openxmlformats.org/drawingml/2006/main">
            <a:pPr marL="254000" indent="-127000">
              <a:spcAft>
                <a:spcPts val="1700"/>
              </a:spcAft>
              <a:buChar char="•"/>
              <a:defRPr sz="1950" b="0">
                <a:solidFill>
                  <a:srgbClr val="173728"/>
                </a:solidFill>
                <a:latin typeface="Arial"/>
                <a:ea typeface="Arial"/>
                <a:cs typeface="Arial"/>
              </a:defRPr>
            </a:pPr>
            <a:r>
              <a:rPr sz="1950">
                <a:solidFill>
                  <a:srgbClr val="173728"/>
                </a:solidFill>
                <a:latin typeface="Arial"/>
                <a:ea typeface="Arial"/>
                <a:cs typeface="Arial"/>
              </a:rPr>
              <a:t>Categories and subcategories</a:t>
            </a:r>
          </a:p>
        </p:txBody>
      </p:sp>
      <p:sp>
        <p:nvSpPr>
          <p:cNvPr id="5" name="">
            <a:extLst xmlns:a="http://schemas.openxmlformats.org/drawingml/2006/main">
              <a:ext uri="{FF2B5EF4-FFF2-40B4-BE49-F238E27FC236}">
                <a16:creationId xmlns:a16="http://schemas.microsoft.com/office/drawing/2014/main" id="{ACC4082C-E298-48A0-8E69-411A0C746E50}"/>
              </a:ext>
            </a:extLst>
          </p:cNvPr>
          <p:cNvSpPr>
            <a:spLocks xmlns:a="http://schemas.openxmlformats.org/drawingml/2006/main" noGrp="1"/>
          </p:cNvSpPr>
          <p:nvPr/>
        </p:nvSpPr>
        <p:spPr>
          <a:xfrm xmlns:a="http://schemas.openxmlformats.org/drawingml/2006/main">
            <a:off x="6477000" y="1790700"/>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4F7D28"/>
                </a:solidFill>
                <a:latin typeface="Arial"/>
                <a:ea typeface="Arial"/>
                <a:cs typeface="Arial"/>
              </a:defRPr>
            </a:defPPr>
          </a:lstStyle>
          <a:p xmlns:a="http://schemas.openxmlformats.org/drawingml/2006/main">
            <a:pPr>
              <a:buNone/>
              <a:defRPr sz="2175" b="1">
                <a:solidFill>
                  <a:srgbClr val="4F7D28"/>
                </a:solidFill>
                <a:latin typeface="Arial"/>
                <a:ea typeface="Arial"/>
                <a:cs typeface="Arial"/>
              </a:defRPr>
            </a:pPr>
            <a:r>
              <a:rPr sz="2175" b="1">
                <a:solidFill>
                  <a:srgbClr val="4F7D28"/>
                </a:solidFill>
                <a:latin typeface="Arial"/>
                <a:ea typeface="Arial"/>
                <a:cs typeface="Arial"/>
              </a:rPr>
              <a:t>Inventory and suppliers</a:t>
            </a:r>
          </a:p>
        </p:txBody>
      </p:sp>
      <p:sp>
        <p:nvSpPr>
          <p:cNvPr id="6" name="">
            <a:extLst xmlns:a="http://schemas.openxmlformats.org/drawingml/2006/main">
              <a:ext uri="{FF2B5EF4-FFF2-40B4-BE49-F238E27FC236}">
                <a16:creationId xmlns:a16="http://schemas.microsoft.com/office/drawing/2014/main" id="{AB6FD9AD-6639-46C2-8168-438C2E89A047}"/>
              </a:ext>
            </a:extLst>
          </p:cNvPr>
          <p:cNvSpPr>
            <a:spLocks xmlns:a="http://schemas.openxmlformats.org/drawingml/2006/main" noGrp="1"/>
          </p:cNvSpPr>
          <p:nvPr/>
        </p:nvSpPr>
        <p:spPr>
          <a:xfrm xmlns:a="http://schemas.openxmlformats.org/drawingml/2006/main">
            <a:off x="6477000" y="2457450"/>
            <a:ext cx="495300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73728"/>
                </a:solidFill>
                <a:latin typeface="Arial"/>
                <a:ea typeface="Arial"/>
                <a:cs typeface="Arial"/>
              </a:defRPr>
            </a:defPPr>
          </a:lstStyle>
          <a:p xmlns:a="http://schemas.openxmlformats.org/drawingml/2006/main">
            <a:pPr marL="254000" indent="-127000">
              <a:spcAft>
                <a:spcPts val="1700"/>
              </a:spcAft>
              <a:buChar char="•"/>
              <a:defRPr sz="1950" b="0">
                <a:solidFill>
                  <a:srgbClr val="173728"/>
                </a:solidFill>
                <a:latin typeface="Arial"/>
                <a:ea typeface="Arial"/>
                <a:cs typeface="Arial"/>
              </a:defRPr>
            </a:pPr>
            <a:r>
              <a:rPr sz="1950">
                <a:solidFill>
                  <a:srgbClr val="173728"/>
                </a:solidFill>
                <a:latin typeface="Arial"/>
                <a:ea typeface="Arial"/>
                <a:cs typeface="Arial"/>
              </a:rPr>
              <a:t>Stock and sold counts</a:t>
            </a:r>
          </a:p>
          <a:p xmlns:a="http://schemas.openxmlformats.org/drawingml/2006/main">
            <a:pPr marL="254000" indent="-127000">
              <a:spcAft>
                <a:spcPts val="1700"/>
              </a:spcAft>
              <a:buChar char="•"/>
              <a:defRPr sz="1950" b="0">
                <a:solidFill>
                  <a:srgbClr val="173728"/>
                </a:solidFill>
                <a:latin typeface="Arial"/>
                <a:ea typeface="Arial"/>
                <a:cs typeface="Arial"/>
              </a:defRPr>
            </a:pPr>
            <a:r>
              <a:rPr sz="1950">
                <a:solidFill>
                  <a:srgbClr val="173728"/>
                </a:solidFill>
                <a:latin typeface="Arial"/>
                <a:ea typeface="Arial"/>
                <a:cs typeface="Arial"/>
              </a:rPr>
              <a:t>Low-stock and out-of-stock alerts</a:t>
            </a:r>
          </a:p>
          <a:p xmlns:a="http://schemas.openxmlformats.org/drawingml/2006/main">
            <a:pPr marL="254000" indent="-127000">
              <a:spcAft>
                <a:spcPts val="1700"/>
              </a:spcAft>
              <a:buChar char="•"/>
              <a:defRPr sz="1950" b="0">
                <a:solidFill>
                  <a:srgbClr val="173728"/>
                </a:solidFill>
                <a:latin typeface="Arial"/>
                <a:ea typeface="Arial"/>
                <a:cs typeface="Arial"/>
              </a:defRPr>
            </a:pPr>
            <a:r>
              <a:rPr sz="1950">
                <a:solidFill>
                  <a:srgbClr val="173728"/>
                </a:solidFill>
                <a:latin typeface="Arial"/>
                <a:ea typeface="Arial"/>
                <a:cs typeface="Arial"/>
              </a:rPr>
              <a:t>Vendor records and branding</a:t>
            </a:r>
          </a:p>
          <a:p xmlns:a="http://schemas.openxmlformats.org/drawingml/2006/main">
            <a:pPr marL="254000" indent="-127000">
              <a:spcAft>
                <a:spcPts val="1700"/>
              </a:spcAft>
              <a:buChar char="•"/>
              <a:defRPr sz="1950" b="0">
                <a:solidFill>
                  <a:srgbClr val="173728"/>
                </a:solidFill>
                <a:latin typeface="Arial"/>
                <a:ea typeface="Arial"/>
                <a:cs typeface="Arial"/>
              </a:defRPr>
            </a:pPr>
            <a:r>
              <a:rPr sz="1950">
                <a:solidFill>
                  <a:srgbClr val="173728"/>
                </a:solidFill>
                <a:latin typeface="Arial"/>
                <a:ea typeface="Arial"/>
                <a:cs typeface="Arial"/>
              </a:rPr>
              <a:t>Customer records and account creation</a:t>
            </a:r>
          </a:p>
        </p:txBody>
      </p:sp>
    </p:spTree>
    <p:extLst>
      <p:ext uri="{BB962C8B-B14F-4D97-AF65-F5344CB8AC3E}">
        <p14:creationId xmlns:p14="http://schemas.microsoft.com/office/powerpoint/2010/main" val="1714922613"/>
      </p:ext>
    </p:extLst>
  </p:cSld>
</p:sld>
</file>

<file path=ppt/slides/slide14.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BD1C79D-872F-44DA-BEEA-3085C54A344D}"/>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73728"/>
                </a:solidFill>
                <a:latin typeface="Arial"/>
                <a:ea typeface="Arial"/>
                <a:cs typeface="Arial"/>
              </a:defRPr>
            </a:defPPr>
          </a:lstStyle>
          <a:p xmlns:a="http://schemas.openxmlformats.org/drawingml/2006/main">
            <a:pPr>
              <a:buNone/>
              <a:defRPr sz="3300" b="1">
                <a:solidFill>
                  <a:srgbClr val="173728"/>
                </a:solidFill>
                <a:latin typeface="Arial"/>
                <a:ea typeface="Arial"/>
                <a:cs typeface="Arial"/>
              </a:defRPr>
            </a:pPr>
            <a:r>
              <a:rPr sz="3300" b="1">
                <a:solidFill>
                  <a:srgbClr val="173728"/>
                </a:solidFill>
                <a:latin typeface="Arial"/>
                <a:ea typeface="Arial"/>
                <a:cs typeface="Arial"/>
              </a:rPr>
              <a:t>Dashboard and notifications</a:t>
            </a:r>
          </a:p>
        </p:txBody>
      </p:sp>
      <p:sp>
        <p:nvSpPr>
          <p:cNvPr id="2" name="">
            <a:extLst xmlns:a="http://schemas.openxmlformats.org/drawingml/2006/main">
              <a:ext uri="{FF2B5EF4-FFF2-40B4-BE49-F238E27FC236}">
                <a16:creationId xmlns:a16="http://schemas.microsoft.com/office/drawing/2014/main" id="{62A70391-F26A-408E-8BEE-6F69FC38A29B}"/>
              </a:ext>
            </a:extLst>
          </p:cNvPr>
          <p:cNvSpPr>
            <a:spLocks xmlns:a="http://schemas.openxmlformats.org/drawingml/2006/main" noGrp="1"/>
          </p:cNvSpPr>
          <p:nvPr/>
        </p:nvSpPr>
        <p:spPr>
          <a:xfrm xmlns:a="http://schemas.openxmlformats.org/drawingml/2006/main">
            <a:off x="10953750" y="62484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06359"/>
                </a:solidFill>
                <a:latin typeface="Arial"/>
                <a:ea typeface="Arial"/>
                <a:cs typeface="Arial"/>
              </a:defRPr>
            </a:defPPr>
          </a:lstStyle>
          <a:p xmlns:a="http://schemas.openxmlformats.org/drawingml/2006/main">
            <a:pPr>
              <a:buNone/>
              <a:defRPr sz="1275" b="0">
                <a:solidFill>
                  <a:srgbClr val="506359"/>
                </a:solidFill>
                <a:latin typeface="Arial"/>
                <a:ea typeface="Arial"/>
                <a:cs typeface="Arial"/>
              </a:defRPr>
            </a:pPr>
            <a:r>
              <a:rPr sz="1275" b="0">
                <a:solidFill>
                  <a:srgbClr val="506359"/>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7E4B7DB6-3621-44A5-92D7-35DF81C41383}"/>
              </a:ext>
            </a:extLst>
          </p:cNvPr>
          <p:cNvSpPr>
            <a:spLocks xmlns:a="http://schemas.openxmlformats.org/drawingml/2006/main" noGrp="1"/>
          </p:cNvSpPr>
          <p:nvPr/>
        </p:nvSpPr>
        <p:spPr>
          <a:xfrm xmlns:a="http://schemas.openxmlformats.org/drawingml/2006/main">
            <a:off x="666750" y="1790700"/>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4F7D28"/>
                </a:solidFill>
                <a:latin typeface="Arial"/>
                <a:ea typeface="Arial"/>
                <a:cs typeface="Arial"/>
              </a:defRPr>
            </a:defPPr>
          </a:lstStyle>
          <a:p xmlns:a="http://schemas.openxmlformats.org/drawingml/2006/main">
            <a:pPr>
              <a:buNone/>
              <a:defRPr sz="2175" b="1">
                <a:solidFill>
                  <a:srgbClr val="4F7D28"/>
                </a:solidFill>
                <a:latin typeface="Arial"/>
                <a:ea typeface="Arial"/>
                <a:cs typeface="Arial"/>
              </a:defRPr>
            </a:pPr>
            <a:r>
              <a:rPr sz="2175" b="1">
                <a:solidFill>
                  <a:srgbClr val="4F7D28"/>
                </a:solidFill>
                <a:latin typeface="Arial"/>
                <a:ea typeface="Arial"/>
                <a:cs typeface="Arial"/>
              </a:rPr>
              <a:t>Reporting</a:t>
            </a:r>
          </a:p>
        </p:txBody>
      </p:sp>
      <p:sp>
        <p:nvSpPr>
          <p:cNvPr id="4" name="">
            <a:extLst xmlns:a="http://schemas.openxmlformats.org/drawingml/2006/main">
              <a:ext uri="{FF2B5EF4-FFF2-40B4-BE49-F238E27FC236}">
                <a16:creationId xmlns:a16="http://schemas.microsoft.com/office/drawing/2014/main" id="{AEF824E9-4A7C-4D80-A594-CE5D13DA33D0}"/>
              </a:ext>
            </a:extLst>
          </p:cNvPr>
          <p:cNvSpPr>
            <a:spLocks xmlns:a="http://schemas.openxmlformats.org/drawingml/2006/main" noGrp="1"/>
          </p:cNvSpPr>
          <p:nvPr/>
        </p:nvSpPr>
        <p:spPr>
          <a:xfrm xmlns:a="http://schemas.openxmlformats.org/drawingml/2006/main">
            <a:off x="666750" y="2457450"/>
            <a:ext cx="495300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73728"/>
                </a:solidFill>
                <a:latin typeface="Arial"/>
                <a:ea typeface="Arial"/>
                <a:cs typeface="Arial"/>
              </a:defRPr>
            </a:defPPr>
          </a:lstStyle>
          <a:p xmlns:a="http://schemas.openxmlformats.org/drawingml/2006/main">
            <a:pPr marL="254000" indent="-127000">
              <a:spcAft>
                <a:spcPts val="1700"/>
              </a:spcAft>
              <a:buChar char="•"/>
              <a:defRPr sz="1950" b="0">
                <a:solidFill>
                  <a:srgbClr val="173728"/>
                </a:solidFill>
                <a:latin typeface="Arial"/>
                <a:ea typeface="Arial"/>
                <a:cs typeface="Arial"/>
              </a:defRPr>
            </a:pPr>
            <a:r>
              <a:rPr sz="1950">
                <a:solidFill>
                  <a:srgbClr val="173728"/>
                </a:solidFill>
                <a:latin typeface="Arial"/>
                <a:ea typeface="Arial"/>
                <a:cs typeface="Arial"/>
              </a:rPr>
              <a:t>Sales and order totals</a:t>
            </a:r>
          </a:p>
          <a:p xmlns:a="http://schemas.openxmlformats.org/drawingml/2006/main">
            <a:pPr marL="254000" indent="-127000">
              <a:spcAft>
                <a:spcPts val="1700"/>
              </a:spcAft>
              <a:buChar char="•"/>
              <a:defRPr sz="1950" b="0">
                <a:solidFill>
                  <a:srgbClr val="173728"/>
                </a:solidFill>
                <a:latin typeface="Arial"/>
                <a:ea typeface="Arial"/>
                <a:cs typeface="Arial"/>
              </a:defRPr>
            </a:pPr>
            <a:r>
              <a:rPr sz="1950">
                <a:solidFill>
                  <a:srgbClr val="173728"/>
                </a:solidFill>
                <a:latin typeface="Arial"/>
                <a:ea typeface="Arial"/>
                <a:cs typeface="Arial"/>
              </a:rPr>
              <a:t>Product and customer counts</a:t>
            </a:r>
          </a:p>
          <a:p xmlns:a="http://schemas.openxmlformats.org/drawingml/2006/main">
            <a:pPr marL="254000" indent="-127000">
              <a:spcAft>
                <a:spcPts val="1700"/>
              </a:spcAft>
              <a:buChar char="•"/>
              <a:defRPr sz="1950" b="0">
                <a:solidFill>
                  <a:srgbClr val="173728"/>
                </a:solidFill>
                <a:latin typeface="Arial"/>
                <a:ea typeface="Arial"/>
                <a:cs typeface="Arial"/>
              </a:defRPr>
            </a:pPr>
            <a:r>
              <a:rPr sz="1950">
                <a:solidFill>
                  <a:srgbClr val="173728"/>
                </a:solidFill>
                <a:latin typeface="Arial"/>
                <a:ea typeface="Arial"/>
                <a:cs typeface="Arial"/>
              </a:rPr>
              <a:t>Daily sales and category charts</a:t>
            </a:r>
          </a:p>
          <a:p xmlns:a="http://schemas.openxmlformats.org/drawingml/2006/main">
            <a:pPr marL="254000" indent="-127000">
              <a:spcAft>
                <a:spcPts val="1700"/>
              </a:spcAft>
              <a:buChar char="•"/>
              <a:defRPr sz="1950" b="0">
                <a:solidFill>
                  <a:srgbClr val="173728"/>
                </a:solidFill>
                <a:latin typeface="Arial"/>
                <a:ea typeface="Arial"/>
                <a:cs typeface="Arial"/>
              </a:defRPr>
            </a:pPr>
            <a:r>
              <a:rPr sz="1950">
                <a:solidFill>
                  <a:srgbClr val="173728"/>
                </a:solidFill>
                <a:latin typeface="Arial"/>
                <a:ea typeface="Arial"/>
                <a:cs typeface="Arial"/>
              </a:rPr>
              <a:t>Order status analysis and date filters</a:t>
            </a:r>
          </a:p>
        </p:txBody>
      </p:sp>
      <p:sp>
        <p:nvSpPr>
          <p:cNvPr id="5" name="">
            <a:extLst xmlns:a="http://schemas.openxmlformats.org/drawingml/2006/main">
              <a:ext uri="{FF2B5EF4-FFF2-40B4-BE49-F238E27FC236}">
                <a16:creationId xmlns:a16="http://schemas.microsoft.com/office/drawing/2014/main" id="{0E84AC5A-E59F-4660-A077-518717DBEA9A}"/>
              </a:ext>
            </a:extLst>
          </p:cNvPr>
          <p:cNvSpPr>
            <a:spLocks xmlns:a="http://schemas.openxmlformats.org/drawingml/2006/main" noGrp="1"/>
          </p:cNvSpPr>
          <p:nvPr/>
        </p:nvSpPr>
        <p:spPr>
          <a:xfrm xmlns:a="http://schemas.openxmlformats.org/drawingml/2006/main">
            <a:off x="6477000" y="1790700"/>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4F7D28"/>
                </a:solidFill>
                <a:latin typeface="Arial"/>
                <a:ea typeface="Arial"/>
                <a:cs typeface="Arial"/>
              </a:defRPr>
            </a:defPPr>
          </a:lstStyle>
          <a:p xmlns:a="http://schemas.openxmlformats.org/drawingml/2006/main">
            <a:pPr>
              <a:buNone/>
              <a:defRPr sz="2175" b="1">
                <a:solidFill>
                  <a:srgbClr val="4F7D28"/>
                </a:solidFill>
                <a:latin typeface="Arial"/>
                <a:ea typeface="Arial"/>
                <a:cs typeface="Arial"/>
              </a:defRPr>
            </a:pPr>
            <a:r>
              <a:rPr sz="2175" b="1">
                <a:solidFill>
                  <a:srgbClr val="4F7D28"/>
                </a:solidFill>
                <a:latin typeface="Arial"/>
                <a:ea typeface="Arial"/>
                <a:cs typeface="Arial"/>
              </a:rPr>
              <a:t>Operational updates</a:t>
            </a:r>
          </a:p>
        </p:txBody>
      </p:sp>
      <p:sp>
        <p:nvSpPr>
          <p:cNvPr id="6" name="">
            <a:extLst xmlns:a="http://schemas.openxmlformats.org/drawingml/2006/main">
              <a:ext uri="{FF2B5EF4-FFF2-40B4-BE49-F238E27FC236}">
                <a16:creationId xmlns:a16="http://schemas.microsoft.com/office/drawing/2014/main" id="{A61523E7-1DDB-4641-8810-25FFDE8F0406}"/>
              </a:ext>
            </a:extLst>
          </p:cNvPr>
          <p:cNvSpPr>
            <a:spLocks xmlns:a="http://schemas.openxmlformats.org/drawingml/2006/main" noGrp="1"/>
          </p:cNvSpPr>
          <p:nvPr/>
        </p:nvSpPr>
        <p:spPr>
          <a:xfrm xmlns:a="http://schemas.openxmlformats.org/drawingml/2006/main">
            <a:off x="6477000" y="2457450"/>
            <a:ext cx="495300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73728"/>
                </a:solidFill>
                <a:latin typeface="Arial"/>
                <a:ea typeface="Arial"/>
                <a:cs typeface="Arial"/>
              </a:defRPr>
            </a:defPPr>
          </a:lstStyle>
          <a:p xmlns:a="http://schemas.openxmlformats.org/drawingml/2006/main">
            <a:pPr marL="254000" indent="-127000">
              <a:spcAft>
                <a:spcPts val="1700"/>
              </a:spcAft>
              <a:buChar char="•"/>
              <a:defRPr sz="1950" b="0">
                <a:solidFill>
                  <a:srgbClr val="173728"/>
                </a:solidFill>
                <a:latin typeface="Arial"/>
                <a:ea typeface="Arial"/>
                <a:cs typeface="Arial"/>
              </a:defRPr>
            </a:pPr>
            <a:r>
              <a:rPr sz="1950">
                <a:solidFill>
                  <a:srgbClr val="173728"/>
                </a:solidFill>
                <a:latin typeface="Arial"/>
                <a:ea typeface="Arial"/>
                <a:cs typeface="Arial"/>
              </a:rPr>
              <a:t>Unread order and prescription counts</a:t>
            </a:r>
          </a:p>
          <a:p xmlns:a="http://schemas.openxmlformats.org/drawingml/2006/main">
            <a:pPr marL="254000" indent="-127000">
              <a:spcAft>
                <a:spcPts val="1700"/>
              </a:spcAft>
              <a:buChar char="•"/>
              <a:defRPr sz="1950" b="0">
                <a:solidFill>
                  <a:srgbClr val="173728"/>
                </a:solidFill>
                <a:latin typeface="Arial"/>
                <a:ea typeface="Arial"/>
                <a:cs typeface="Arial"/>
              </a:defRPr>
            </a:pPr>
            <a:r>
              <a:rPr sz="1950">
                <a:solidFill>
                  <a:srgbClr val="173728"/>
                </a:solidFill>
                <a:latin typeface="Arial"/>
                <a:ea typeface="Arial"/>
                <a:cs typeface="Arial"/>
              </a:rPr>
              <a:t>Socket.IO order and prescription events</a:t>
            </a:r>
          </a:p>
          <a:p xmlns:a="http://schemas.openxmlformats.org/drawingml/2006/main">
            <a:pPr marL="254000" indent="-127000">
              <a:spcAft>
                <a:spcPts val="1700"/>
              </a:spcAft>
              <a:buChar char="•"/>
              <a:defRPr sz="1950" b="0">
                <a:solidFill>
                  <a:srgbClr val="173728"/>
                </a:solidFill>
                <a:latin typeface="Arial"/>
                <a:ea typeface="Arial"/>
                <a:cs typeface="Arial"/>
              </a:defRPr>
            </a:pPr>
            <a:r>
              <a:rPr sz="1950">
                <a:solidFill>
                  <a:srgbClr val="173728"/>
                </a:solidFill>
                <a:latin typeface="Arial"/>
                <a:ea typeface="Arial"/>
                <a:cs typeface="Arial"/>
              </a:rPr>
              <a:t>SMS order and prescription messages</a:t>
            </a:r>
          </a:p>
          <a:p xmlns:a="http://schemas.openxmlformats.org/drawingml/2006/main">
            <a:pPr marL="254000" indent="-127000">
              <a:spcAft>
                <a:spcPts val="1700"/>
              </a:spcAft>
              <a:buChar char="•"/>
              <a:defRPr sz="1950" b="0">
                <a:solidFill>
                  <a:srgbClr val="173728"/>
                </a:solidFill>
                <a:latin typeface="Arial"/>
                <a:ea typeface="Arial"/>
                <a:cs typeface="Arial"/>
              </a:defRPr>
            </a:pPr>
            <a:r>
              <a:rPr sz="1950">
                <a:solidFill>
                  <a:srgbClr val="173728"/>
                </a:solidFill>
                <a:latin typeface="Arial"/>
                <a:ea typeface="Arial"/>
                <a:cs typeface="Arial"/>
              </a:rPr>
              <a:t>Editable SMS templates</a:t>
            </a:r>
          </a:p>
        </p:txBody>
      </p:sp>
    </p:spTree>
    <p:extLst>
      <p:ext uri="{BB962C8B-B14F-4D97-AF65-F5344CB8AC3E}">
        <p14:creationId xmlns:p14="http://schemas.microsoft.com/office/powerpoint/2010/main" val="1567712463"/>
      </p:ext>
    </p:extLst>
  </p:cSld>
</p:sld>
</file>

<file path=ppt/slides/slide15.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C7C1D42-80E4-4BA7-A4B1-412E11CC7E7A}"/>
              </a:ext>
            </a:extLst>
          </p:cNvPr>
          <p:cNvSpPr>
            <a:spLocks xmlns:a="http://schemas.openxmlformats.org/drawingml/2006/main" noGrp="1"/>
          </p:cNvSpPr>
          <p:nvPr/>
        </p:nvSpPr>
        <p:spPr>
          <a:xfrm xmlns:a="http://schemas.openxmlformats.org/drawingml/2006/main">
            <a:off x="619125" y="3619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173728"/>
                </a:solidFill>
                <a:latin typeface="Arial"/>
                <a:ea typeface="Arial"/>
                <a:cs typeface="Arial"/>
              </a:defRPr>
            </a:defPPr>
          </a:lstStyle>
          <a:p xmlns:a="http://schemas.openxmlformats.org/drawingml/2006/main">
            <a:pPr>
              <a:defRPr sz="2850" b="1">
                <a:solidFill>
                  <a:srgbClr val="173728"/>
                </a:solidFill>
                <a:latin typeface="Arial"/>
                <a:ea typeface="Arial"/>
                <a:cs typeface="Arial"/>
              </a:defRPr>
            </a:pPr>
            <a:r>
              <a:rPr sz="2850" b="1">
                <a:solidFill>
                  <a:srgbClr val="173728"/>
                </a:solidFill>
                <a:latin typeface="Arial"/>
                <a:ea typeface="Arial"/>
                <a:cs typeface="Arial"/>
              </a:rPr>
              <a:t>Admin dashboard on desktop</a:t>
            </a:r>
          </a:p>
        </p:txBody>
      </p:sp>
      <p:pic>
        <p:nvPicPr>
          <p:cNvPr id="2" name="">
            <a:extLst xmlns:a="http://schemas.openxmlformats.org/drawingml/2006/main">
              <a:ext uri="{FF2B5EF4-FFF2-40B4-BE49-F238E27FC236}">
                <a16:creationId xmlns:a16="http://schemas.microsoft.com/office/drawing/2014/main" id="{4383643B-1515-49BD-B02D-9FA8394EDC9D}"/>
              </a:ext>
            </a:extLst>
          </p:cNvPr>
          <p:cNvPicPr>
            <a:picLocks xmlns:a="http://schemas.openxmlformats.org/drawingml/2006/main" noChangeAspect="1"/>
          </p:cNvPicPr>
          <p:nvPr/>
        </p:nvPicPr>
        <p:blipFill>
          <a:blip xmlns:r="http://schemas.openxmlformats.org/officeDocument/2006/relationships" xmlns:a="http://schemas.openxmlformats.org/drawingml/2006/main" r:embed="R89be6c487bc544ea"/>
          <a:stretch xmlns:a="http://schemas.openxmlformats.org/drawingml/2006/main"/>
        </p:blipFill>
        <p:spPr>
          <a:xfrm xmlns:a="http://schemas.openxmlformats.org/drawingml/2006/main">
            <a:off x="2171700" y="1200150"/>
            <a:ext cx="7848600" cy="490537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F93B0CD-7DA2-47A3-ADBD-6CF3AC07A14E}"/>
              </a:ext>
            </a:extLst>
          </p:cNvPr>
          <p:cNvSpPr>
            <a:spLocks xmlns:a="http://schemas.openxmlformats.org/drawingml/2006/main" noGrp="1"/>
          </p:cNvSpPr>
          <p:nvPr/>
        </p:nvSpPr>
        <p:spPr>
          <a:xfrm xmlns:a="http://schemas.openxmlformats.org/drawingml/2006/main">
            <a:off x="619125" y="61912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73728"/>
                </a:solidFill>
                <a:latin typeface="Arial"/>
                <a:ea typeface="Arial"/>
                <a:cs typeface="Arial"/>
              </a:defRPr>
            </a:defPPr>
          </a:lstStyle>
          <a:p xmlns:a="http://schemas.openxmlformats.org/drawingml/2006/main">
            <a:pPr>
              <a:defRPr sz="1500" b="0">
                <a:solidFill>
                  <a:srgbClr val="173728"/>
                </a:solidFill>
                <a:latin typeface="Arial"/>
                <a:ea typeface="Arial"/>
                <a:cs typeface="Arial"/>
              </a:defRPr>
            </a:pPr>
            <a:r>
              <a:rPr sz="1500" b="0">
                <a:solidFill>
                  <a:srgbClr val="173728"/>
                </a:solidFill>
                <a:latin typeface="Arial"/>
                <a:ea typeface="Arial"/>
                <a:cs typeface="Arial"/>
              </a:rPr>
              <a:t>Sample order totals, inventory alerts, and reporting charts</a:t>
            </a:r>
          </a:p>
        </p:txBody>
      </p:sp>
      <p:sp>
        <p:nvSpPr>
          <p:cNvPr id="4" name="">
            <a:extLst xmlns:a="http://schemas.openxmlformats.org/drawingml/2006/main">
              <a:ext uri="{FF2B5EF4-FFF2-40B4-BE49-F238E27FC236}">
                <a16:creationId xmlns:a16="http://schemas.microsoft.com/office/drawing/2014/main" id="{3CA06AB8-A659-4E5A-A6B9-12AF70E25375}"/>
              </a:ext>
            </a:extLst>
          </p:cNvPr>
          <p:cNvSpPr>
            <a:spLocks xmlns:a="http://schemas.openxmlformats.org/drawingml/2006/main" noGrp="1"/>
          </p:cNvSpPr>
          <p:nvPr/>
        </p:nvSpPr>
        <p:spPr>
          <a:xfrm xmlns:a="http://schemas.openxmlformats.org/drawingml/2006/main">
            <a:off x="619125" y="65341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06359"/>
                </a:solidFill>
                <a:latin typeface="Arial"/>
                <a:ea typeface="Arial"/>
                <a:cs typeface="Arial"/>
              </a:defRPr>
            </a:defPPr>
          </a:lstStyle>
          <a:p xmlns:a="http://schemas.openxmlformats.org/drawingml/2006/main">
            <a:pPr>
              <a:defRPr sz="1200" b="0">
                <a:solidFill>
                  <a:srgbClr val="506359"/>
                </a:solidFill>
                <a:latin typeface="Arial"/>
                <a:ea typeface="Arial"/>
                <a:cs typeface="Arial"/>
              </a:defRPr>
            </a:pPr>
            <a:r>
              <a:rPr sz="1200" b="0">
                <a:solidFill>
                  <a:srgbClr val="506359"/>
                </a:solidFill>
                <a:latin typeface="Arial"/>
                <a:ea typeface="Arial"/>
                <a:cs typeface="Arial"/>
              </a:rPr>
              <a:t>Local demo with sample records and placeholder product images</a:t>
            </a:r>
          </a:p>
        </p:txBody>
      </p:sp>
    </p:spTree>
    <p:extLst>
      <p:ext uri="{BB962C8B-B14F-4D97-AF65-F5344CB8AC3E}">
        <p14:creationId xmlns:p14="http://schemas.microsoft.com/office/powerpoint/2010/main" val="833182156"/>
      </p:ext>
    </p:extLst>
  </p:cSld>
</p:sld>
</file>

<file path=ppt/slides/slide16.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02EDAEC-C43F-4D6C-B50E-D8E37F0F03DA}"/>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73728"/>
                </a:solidFill>
                <a:latin typeface="Arial"/>
                <a:ea typeface="Arial"/>
                <a:cs typeface="Arial"/>
              </a:defRPr>
            </a:defPPr>
          </a:lstStyle>
          <a:p xmlns:a="http://schemas.openxmlformats.org/drawingml/2006/main">
            <a:pPr>
              <a:buNone/>
              <a:defRPr sz="3300" b="1">
                <a:solidFill>
                  <a:srgbClr val="173728"/>
                </a:solidFill>
                <a:latin typeface="Arial"/>
                <a:ea typeface="Arial"/>
                <a:cs typeface="Arial"/>
              </a:defRPr>
            </a:pPr>
            <a:r>
              <a:rPr sz="3300" b="1">
                <a:solidFill>
                  <a:srgbClr val="173728"/>
                </a:solidFill>
                <a:latin typeface="Arial"/>
                <a:ea typeface="Arial"/>
                <a:cs typeface="Arial"/>
              </a:rPr>
              <a:t>Promotions and delivery settings</a:t>
            </a:r>
          </a:p>
        </p:txBody>
      </p:sp>
      <p:sp>
        <p:nvSpPr>
          <p:cNvPr id="2" name="">
            <a:extLst xmlns:a="http://schemas.openxmlformats.org/drawingml/2006/main">
              <a:ext uri="{FF2B5EF4-FFF2-40B4-BE49-F238E27FC236}">
                <a16:creationId xmlns:a16="http://schemas.microsoft.com/office/drawing/2014/main" id="{050DE76A-4049-4E80-AC52-74090B34A62E}"/>
              </a:ext>
            </a:extLst>
          </p:cNvPr>
          <p:cNvSpPr>
            <a:spLocks xmlns:a="http://schemas.openxmlformats.org/drawingml/2006/main" noGrp="1"/>
          </p:cNvSpPr>
          <p:nvPr/>
        </p:nvSpPr>
        <p:spPr>
          <a:xfrm xmlns:a="http://schemas.openxmlformats.org/drawingml/2006/main">
            <a:off x="10953750" y="62484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06359"/>
                </a:solidFill>
                <a:latin typeface="Arial"/>
                <a:ea typeface="Arial"/>
                <a:cs typeface="Arial"/>
              </a:defRPr>
            </a:defPPr>
          </a:lstStyle>
          <a:p xmlns:a="http://schemas.openxmlformats.org/drawingml/2006/main">
            <a:pPr>
              <a:buNone/>
              <a:defRPr sz="1275" b="0">
                <a:solidFill>
                  <a:srgbClr val="506359"/>
                </a:solidFill>
                <a:latin typeface="Arial"/>
                <a:ea typeface="Arial"/>
                <a:cs typeface="Arial"/>
              </a:defRPr>
            </a:pPr>
            <a:r>
              <a:rPr sz="1275" b="0">
                <a:solidFill>
                  <a:srgbClr val="506359"/>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A727E97C-16B6-47BD-A897-24F7D4012E6A}"/>
              </a:ext>
            </a:extLst>
          </p:cNvPr>
          <p:cNvSpPr>
            <a:spLocks xmlns:a="http://schemas.openxmlformats.org/drawingml/2006/main" noGrp="1"/>
          </p:cNvSpPr>
          <p:nvPr/>
        </p:nvSpPr>
        <p:spPr>
          <a:xfrm xmlns:a="http://schemas.openxmlformats.org/drawingml/2006/main">
            <a:off x="666750" y="1790700"/>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4F7D28"/>
                </a:solidFill>
                <a:latin typeface="Arial"/>
                <a:ea typeface="Arial"/>
                <a:cs typeface="Arial"/>
              </a:defRPr>
            </a:defPPr>
          </a:lstStyle>
          <a:p xmlns:a="http://schemas.openxmlformats.org/drawingml/2006/main">
            <a:pPr>
              <a:buNone/>
              <a:defRPr sz="2175" b="1">
                <a:solidFill>
                  <a:srgbClr val="4F7D28"/>
                </a:solidFill>
                <a:latin typeface="Arial"/>
                <a:ea typeface="Arial"/>
                <a:cs typeface="Arial"/>
              </a:defRPr>
            </a:pPr>
            <a:r>
              <a:rPr sz="2175" b="1">
                <a:solidFill>
                  <a:srgbClr val="4F7D28"/>
                </a:solidFill>
                <a:latin typeface="Arial"/>
                <a:ea typeface="Arial"/>
                <a:cs typeface="Arial"/>
              </a:rPr>
              <a:t>Promotions</a:t>
            </a:r>
          </a:p>
        </p:txBody>
      </p:sp>
      <p:sp>
        <p:nvSpPr>
          <p:cNvPr id="4" name="">
            <a:extLst xmlns:a="http://schemas.openxmlformats.org/drawingml/2006/main">
              <a:ext uri="{FF2B5EF4-FFF2-40B4-BE49-F238E27FC236}">
                <a16:creationId xmlns:a16="http://schemas.microsoft.com/office/drawing/2014/main" id="{7FB62EEF-7155-4664-A961-A303272D008A}"/>
              </a:ext>
            </a:extLst>
          </p:cNvPr>
          <p:cNvSpPr>
            <a:spLocks xmlns:a="http://schemas.openxmlformats.org/drawingml/2006/main" noGrp="1"/>
          </p:cNvSpPr>
          <p:nvPr/>
        </p:nvSpPr>
        <p:spPr>
          <a:xfrm xmlns:a="http://schemas.openxmlformats.org/drawingml/2006/main">
            <a:off x="666750" y="2457450"/>
            <a:ext cx="495300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73728"/>
                </a:solidFill>
                <a:latin typeface="Arial"/>
                <a:ea typeface="Arial"/>
                <a:cs typeface="Arial"/>
              </a:defRPr>
            </a:defPPr>
          </a:lstStyle>
          <a:p xmlns:a="http://schemas.openxmlformats.org/drawingml/2006/main">
            <a:pPr marL="254000" indent="-127000">
              <a:spcAft>
                <a:spcPts val="1700"/>
              </a:spcAft>
              <a:buChar char="•"/>
              <a:defRPr sz="1950" b="0">
                <a:solidFill>
                  <a:srgbClr val="173728"/>
                </a:solidFill>
                <a:latin typeface="Arial"/>
                <a:ea typeface="Arial"/>
                <a:cs typeface="Arial"/>
              </a:defRPr>
            </a:pPr>
            <a:r>
              <a:rPr sz="1950">
                <a:solidFill>
                  <a:srgbClr val="173728"/>
                </a:solidFill>
                <a:latin typeface="Arial"/>
                <a:ea typeface="Arial"/>
                <a:cs typeface="Arial"/>
              </a:rPr>
              <a:t>Flash deals and offers</a:t>
            </a:r>
          </a:p>
          <a:p xmlns:a="http://schemas.openxmlformats.org/drawingml/2006/main">
            <a:pPr marL="254000" indent="-127000">
              <a:spcAft>
                <a:spcPts val="1700"/>
              </a:spcAft>
              <a:buChar char="•"/>
              <a:defRPr sz="1950" b="0">
                <a:solidFill>
                  <a:srgbClr val="173728"/>
                </a:solidFill>
                <a:latin typeface="Arial"/>
                <a:ea typeface="Arial"/>
                <a:cs typeface="Arial"/>
              </a:defRPr>
            </a:pPr>
            <a:r>
              <a:rPr sz="1950">
                <a:solidFill>
                  <a:srgbClr val="173728"/>
                </a:solidFill>
                <a:latin typeface="Arial"/>
                <a:ea typeface="Arial"/>
                <a:cs typeface="Arial"/>
              </a:rPr>
              <a:t>Percentage or fixed-amount discounts</a:t>
            </a:r>
          </a:p>
          <a:p xmlns:a="http://schemas.openxmlformats.org/drawingml/2006/main">
            <a:pPr marL="254000" indent="-127000">
              <a:spcAft>
                <a:spcPts val="1700"/>
              </a:spcAft>
              <a:buChar char="•"/>
              <a:defRPr sz="1950" b="0">
                <a:solidFill>
                  <a:srgbClr val="173728"/>
                </a:solidFill>
                <a:latin typeface="Arial"/>
                <a:ea typeface="Arial"/>
                <a:cs typeface="Arial"/>
              </a:defRPr>
            </a:pPr>
            <a:r>
              <a:rPr sz="1950">
                <a:solidFill>
                  <a:srgbClr val="173728"/>
                </a:solidFill>
                <a:latin typeface="Arial"/>
                <a:ea typeface="Arial"/>
                <a:cs typeface="Arial"/>
              </a:rPr>
              <a:t>Scheduled start and end dates</a:t>
            </a:r>
          </a:p>
          <a:p xmlns:a="http://schemas.openxmlformats.org/drawingml/2006/main">
            <a:pPr marL="254000" indent="-127000">
              <a:spcAft>
                <a:spcPts val="1700"/>
              </a:spcAft>
              <a:buChar char="•"/>
              <a:defRPr sz="1950" b="0">
                <a:solidFill>
                  <a:srgbClr val="173728"/>
                </a:solidFill>
                <a:latin typeface="Arial"/>
                <a:ea typeface="Arial"/>
                <a:cs typeface="Arial"/>
              </a:defRPr>
            </a:pPr>
            <a:r>
              <a:rPr sz="1950">
                <a:solidFill>
                  <a:srgbClr val="173728"/>
                </a:solidFill>
                <a:latin typeface="Arial"/>
                <a:ea typeface="Arial"/>
                <a:cs typeface="Arial"/>
              </a:rPr>
              <a:t>Selected products and promotion statuses</a:t>
            </a:r>
          </a:p>
        </p:txBody>
      </p:sp>
      <p:sp>
        <p:nvSpPr>
          <p:cNvPr id="5" name="">
            <a:extLst xmlns:a="http://schemas.openxmlformats.org/drawingml/2006/main">
              <a:ext uri="{FF2B5EF4-FFF2-40B4-BE49-F238E27FC236}">
                <a16:creationId xmlns:a16="http://schemas.microsoft.com/office/drawing/2014/main" id="{ED06BCE6-2CA4-451D-B316-E2DFBAEA65BB}"/>
              </a:ext>
            </a:extLst>
          </p:cNvPr>
          <p:cNvSpPr>
            <a:spLocks xmlns:a="http://schemas.openxmlformats.org/drawingml/2006/main" noGrp="1"/>
          </p:cNvSpPr>
          <p:nvPr/>
        </p:nvSpPr>
        <p:spPr>
          <a:xfrm xmlns:a="http://schemas.openxmlformats.org/drawingml/2006/main">
            <a:off x="6477000" y="1790700"/>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4F7D28"/>
                </a:solidFill>
                <a:latin typeface="Arial"/>
                <a:ea typeface="Arial"/>
                <a:cs typeface="Arial"/>
              </a:defRPr>
            </a:defPPr>
          </a:lstStyle>
          <a:p xmlns:a="http://schemas.openxmlformats.org/drawingml/2006/main">
            <a:pPr>
              <a:buNone/>
              <a:defRPr sz="2175" b="1">
                <a:solidFill>
                  <a:srgbClr val="4F7D28"/>
                </a:solidFill>
                <a:latin typeface="Arial"/>
                <a:ea typeface="Arial"/>
                <a:cs typeface="Arial"/>
              </a:defRPr>
            </a:pPr>
            <a:r>
              <a:rPr sz="2175" b="1">
                <a:solidFill>
                  <a:srgbClr val="4F7D28"/>
                </a:solidFill>
                <a:latin typeface="Arial"/>
                <a:ea typeface="Arial"/>
                <a:cs typeface="Arial"/>
              </a:rPr>
              <a:t>Checkout configuration</a:t>
            </a:r>
          </a:p>
        </p:txBody>
      </p:sp>
      <p:sp>
        <p:nvSpPr>
          <p:cNvPr id="6" name="">
            <a:extLst xmlns:a="http://schemas.openxmlformats.org/drawingml/2006/main">
              <a:ext uri="{FF2B5EF4-FFF2-40B4-BE49-F238E27FC236}">
                <a16:creationId xmlns:a16="http://schemas.microsoft.com/office/drawing/2014/main" id="{19885CF5-4CB9-4A6F-8046-649683BFF306}"/>
              </a:ext>
            </a:extLst>
          </p:cNvPr>
          <p:cNvSpPr>
            <a:spLocks xmlns:a="http://schemas.openxmlformats.org/drawingml/2006/main" noGrp="1"/>
          </p:cNvSpPr>
          <p:nvPr/>
        </p:nvSpPr>
        <p:spPr>
          <a:xfrm xmlns:a="http://schemas.openxmlformats.org/drawingml/2006/main">
            <a:off x="6477000" y="2457450"/>
            <a:ext cx="495300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73728"/>
                </a:solidFill>
                <a:latin typeface="Arial"/>
                <a:ea typeface="Arial"/>
                <a:cs typeface="Arial"/>
              </a:defRPr>
            </a:defPPr>
          </a:lstStyle>
          <a:p xmlns:a="http://schemas.openxmlformats.org/drawingml/2006/main">
            <a:pPr marL="254000" indent="-127000">
              <a:spcAft>
                <a:spcPts val="1700"/>
              </a:spcAft>
              <a:buChar char="•"/>
              <a:defRPr sz="1950" b="0">
                <a:solidFill>
                  <a:srgbClr val="173728"/>
                </a:solidFill>
                <a:latin typeface="Arial"/>
                <a:ea typeface="Arial"/>
                <a:cs typeface="Arial"/>
              </a:defRPr>
            </a:pPr>
            <a:r>
              <a:rPr sz="1950">
                <a:solidFill>
                  <a:srgbClr val="173728"/>
                </a:solidFill>
                <a:latin typeface="Arial"/>
                <a:ea typeface="Arial"/>
                <a:cs typeface="Arial"/>
              </a:rPr>
              <a:t>Tax and payment method information</a:t>
            </a:r>
          </a:p>
          <a:p xmlns:a="http://schemas.openxmlformats.org/drawingml/2006/main">
            <a:pPr marL="254000" indent="-127000">
              <a:spcAft>
                <a:spcPts val="1700"/>
              </a:spcAft>
              <a:buChar char="•"/>
              <a:defRPr sz="1950" b="0">
                <a:solidFill>
                  <a:srgbClr val="173728"/>
                </a:solidFill>
                <a:latin typeface="Arial"/>
                <a:ea typeface="Arial"/>
                <a:cs typeface="Arial"/>
              </a:defRPr>
            </a:pPr>
            <a:r>
              <a:rPr sz="1950">
                <a:solidFill>
                  <a:srgbClr val="173728"/>
                </a:solidFill>
                <a:latin typeface="Arial"/>
                <a:ea typeface="Arial"/>
                <a:cs typeface="Arial"/>
              </a:rPr>
              <a:t>Flat, distance, percentage, or city fees</a:t>
            </a:r>
          </a:p>
          <a:p xmlns:a="http://schemas.openxmlformats.org/drawingml/2006/main">
            <a:pPr marL="254000" indent="-127000">
              <a:spcAft>
                <a:spcPts val="1700"/>
              </a:spcAft>
              <a:buChar char="•"/>
              <a:defRPr sz="1950" b="0">
                <a:solidFill>
                  <a:srgbClr val="173728"/>
                </a:solidFill>
                <a:latin typeface="Arial"/>
                <a:ea typeface="Arial"/>
                <a:cs typeface="Arial"/>
              </a:defRPr>
            </a:pPr>
            <a:r>
              <a:rPr sz="1950">
                <a:solidFill>
                  <a:srgbClr val="173728"/>
                </a:solidFill>
                <a:latin typeface="Arial"/>
                <a:ea typeface="Arial"/>
                <a:cs typeface="Arial"/>
              </a:rPr>
              <a:t>Delivery overrides by order value</a:t>
            </a:r>
          </a:p>
          <a:p xmlns:a="http://schemas.openxmlformats.org/drawingml/2006/main">
            <a:pPr marL="254000" indent="-127000">
              <a:spcAft>
                <a:spcPts val="1700"/>
              </a:spcAft>
              <a:buChar char="•"/>
              <a:defRPr sz="1950" b="0">
                <a:solidFill>
                  <a:srgbClr val="173728"/>
                </a:solidFill>
                <a:latin typeface="Arial"/>
                <a:ea typeface="Arial"/>
                <a:cs typeface="Arial"/>
              </a:defRPr>
            </a:pPr>
            <a:r>
              <a:rPr sz="1950">
                <a:solidFill>
                  <a:srgbClr val="173728"/>
                </a:solidFill>
                <a:latin typeface="Arial"/>
                <a:ea typeface="Arial"/>
                <a:cs typeface="Arial"/>
              </a:rPr>
              <a:t>Store location for distance calculation</a:t>
            </a:r>
          </a:p>
        </p:txBody>
      </p:sp>
    </p:spTree>
    <p:extLst>
      <p:ext uri="{BB962C8B-B14F-4D97-AF65-F5344CB8AC3E}">
        <p14:creationId xmlns:p14="http://schemas.microsoft.com/office/powerpoint/2010/main" val="1341299944"/>
      </p:ext>
    </p:extLst>
  </p:cSld>
</p:sld>
</file>

<file path=ppt/slides/slide17.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3138461-A8DD-4F12-84C8-9FB1B519D141}"/>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73728"/>
                </a:solidFill>
                <a:latin typeface="Arial"/>
                <a:ea typeface="Arial"/>
                <a:cs typeface="Arial"/>
              </a:defRPr>
            </a:defPPr>
          </a:lstStyle>
          <a:p xmlns:a="http://schemas.openxmlformats.org/drawingml/2006/main">
            <a:pPr>
              <a:buNone/>
              <a:defRPr sz="3300" b="1">
                <a:solidFill>
                  <a:srgbClr val="173728"/>
                </a:solidFill>
                <a:latin typeface="Arial"/>
                <a:ea typeface="Arial"/>
                <a:cs typeface="Arial"/>
              </a:defRPr>
            </a:pPr>
            <a:r>
              <a:rPr sz="3300" b="1">
                <a:solidFill>
                  <a:srgbClr val="173728"/>
                </a:solidFill>
                <a:latin typeface="Arial"/>
                <a:ea typeface="Arial"/>
                <a:cs typeface="Arial"/>
              </a:rPr>
              <a:t>Website content management</a:t>
            </a:r>
          </a:p>
        </p:txBody>
      </p:sp>
      <p:sp>
        <p:nvSpPr>
          <p:cNvPr id="2" name="">
            <a:extLst xmlns:a="http://schemas.openxmlformats.org/drawingml/2006/main">
              <a:ext uri="{FF2B5EF4-FFF2-40B4-BE49-F238E27FC236}">
                <a16:creationId xmlns:a16="http://schemas.microsoft.com/office/drawing/2014/main" id="{766DD76F-EC1B-47EA-ACE9-B37B89B1DE3A}"/>
              </a:ext>
            </a:extLst>
          </p:cNvPr>
          <p:cNvSpPr>
            <a:spLocks xmlns:a="http://schemas.openxmlformats.org/drawingml/2006/main" noGrp="1"/>
          </p:cNvSpPr>
          <p:nvPr/>
        </p:nvSpPr>
        <p:spPr>
          <a:xfrm xmlns:a="http://schemas.openxmlformats.org/drawingml/2006/main">
            <a:off x="10953750" y="62484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06359"/>
                </a:solidFill>
                <a:latin typeface="Arial"/>
                <a:ea typeface="Arial"/>
                <a:cs typeface="Arial"/>
              </a:defRPr>
            </a:defPPr>
          </a:lstStyle>
          <a:p xmlns:a="http://schemas.openxmlformats.org/drawingml/2006/main">
            <a:pPr>
              <a:buNone/>
              <a:defRPr sz="1275" b="0">
                <a:solidFill>
                  <a:srgbClr val="506359"/>
                </a:solidFill>
                <a:latin typeface="Arial"/>
                <a:ea typeface="Arial"/>
                <a:cs typeface="Arial"/>
              </a:defRPr>
            </a:pPr>
            <a:r>
              <a:rPr sz="1275" b="0">
                <a:solidFill>
                  <a:srgbClr val="506359"/>
                </a:solidFill>
                <a:latin typeface="Arial"/>
                <a:ea typeface="Arial"/>
                <a:cs typeface="Arial"/>
              </a:rPr>
              <a:t>17</a:t>
            </a:r>
          </a:p>
        </p:txBody>
      </p:sp>
      <p:sp>
        <p:nvSpPr>
          <p:cNvPr id="3" name="">
            <a:extLst xmlns:a="http://schemas.openxmlformats.org/drawingml/2006/main">
              <a:ext uri="{FF2B5EF4-FFF2-40B4-BE49-F238E27FC236}">
                <a16:creationId xmlns:a16="http://schemas.microsoft.com/office/drawing/2014/main" id="{472C42A9-9390-4768-9B76-E69ACFFD1399}"/>
              </a:ext>
            </a:extLst>
          </p:cNvPr>
          <p:cNvSpPr>
            <a:spLocks xmlns:a="http://schemas.openxmlformats.org/drawingml/2006/main" noGrp="1"/>
          </p:cNvSpPr>
          <p:nvPr/>
        </p:nvSpPr>
        <p:spPr>
          <a:xfrm xmlns:a="http://schemas.openxmlformats.org/drawingml/2006/main">
            <a:off x="666750" y="1943100"/>
            <a:ext cx="1057275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3728"/>
                </a:solidFill>
                <a:latin typeface="Arial"/>
                <a:ea typeface="Arial"/>
                <a:cs typeface="Arial"/>
              </a:defRPr>
            </a:defPPr>
          </a:lstStyle>
          <a:p xmlns:a="http://schemas.openxmlformats.org/drawingml/2006/main">
            <a:pPr marL="254000" indent="-127000">
              <a:spcAft>
                <a:spcPts val="1700"/>
              </a:spcAft>
              <a:buChar char="•"/>
              <a:defRPr sz="2175" b="0">
                <a:solidFill>
                  <a:srgbClr val="173728"/>
                </a:solidFill>
                <a:latin typeface="Arial"/>
                <a:ea typeface="Arial"/>
                <a:cs typeface="Arial"/>
              </a:defRPr>
            </a:pPr>
            <a:r>
              <a:rPr sz="2175">
                <a:solidFill>
                  <a:srgbClr val="173728"/>
                </a:solidFill>
                <a:latin typeface="Arial"/>
                <a:ea typeface="Arial"/>
                <a:cs typeface="Arial"/>
              </a:rPr>
              <a:t>Edit the homepage with a live preview</a:t>
            </a:r>
          </a:p>
          <a:p xmlns:a="http://schemas.openxmlformats.org/drawingml/2006/main">
            <a:pPr marL="254000" indent="-127000">
              <a:spcAft>
                <a:spcPts val="1700"/>
              </a:spcAft>
              <a:buChar char="•"/>
              <a:defRPr sz="2175" b="0">
                <a:solidFill>
                  <a:srgbClr val="173728"/>
                </a:solidFill>
                <a:latin typeface="Arial"/>
                <a:ea typeface="Arial"/>
                <a:cs typeface="Arial"/>
              </a:defRPr>
            </a:pPr>
            <a:r>
              <a:rPr sz="2175">
                <a:solidFill>
                  <a:srgbClr val="173728"/>
                </a:solidFill>
                <a:latin typeface="Arial"/>
                <a:ea typeface="Arial"/>
                <a:cs typeface="Arial"/>
              </a:rPr>
              <a:t>Add, reorder, hide, or remove content sections</a:t>
            </a:r>
          </a:p>
          <a:p xmlns:a="http://schemas.openxmlformats.org/drawingml/2006/main">
            <a:pPr marL="254000" indent="-127000">
              <a:spcAft>
                <a:spcPts val="1700"/>
              </a:spcAft>
              <a:buChar char="•"/>
              <a:defRPr sz="2175" b="0">
                <a:solidFill>
                  <a:srgbClr val="173728"/>
                </a:solidFill>
                <a:latin typeface="Arial"/>
                <a:ea typeface="Arial"/>
                <a:cs typeface="Arial"/>
              </a:defRPr>
            </a:pPr>
            <a:r>
              <a:rPr sz="2175">
                <a:solidFill>
                  <a:srgbClr val="173728"/>
                </a:solidFill>
                <a:latin typeface="Arial"/>
                <a:ea typeface="Arial"/>
                <a:cs typeface="Arial"/>
              </a:rPr>
              <a:t>Customize text, images, colors, buttons, and links</a:t>
            </a:r>
          </a:p>
          <a:p xmlns:a="http://schemas.openxmlformats.org/drawingml/2006/main">
            <a:pPr marL="254000" indent="-127000">
              <a:spcAft>
                <a:spcPts val="1700"/>
              </a:spcAft>
              <a:buChar char="•"/>
              <a:defRPr sz="2175" b="0">
                <a:solidFill>
                  <a:srgbClr val="173728"/>
                </a:solidFill>
                <a:latin typeface="Arial"/>
                <a:ea typeface="Arial"/>
                <a:cs typeface="Arial"/>
              </a:defRPr>
            </a:pPr>
            <a:r>
              <a:rPr sz="2175">
                <a:solidFill>
                  <a:srgbClr val="173728"/>
                </a:solidFill>
                <a:latin typeface="Arial"/>
                <a:ea typeface="Arial"/>
                <a:cs typeface="Arial"/>
              </a:rPr>
              <a:t>Manage hero slides, product grids, banners, and FAQs</a:t>
            </a:r>
          </a:p>
          <a:p xmlns:a="http://schemas.openxmlformats.org/drawingml/2006/main">
            <a:pPr marL="254000" indent="-127000">
              <a:spcAft>
                <a:spcPts val="1700"/>
              </a:spcAft>
              <a:buChar char="•"/>
              <a:defRPr sz="2175" b="0">
                <a:solidFill>
                  <a:srgbClr val="173728"/>
                </a:solidFill>
                <a:latin typeface="Arial"/>
                <a:ea typeface="Arial"/>
                <a:cs typeface="Arial"/>
              </a:defRPr>
            </a:pPr>
            <a:r>
              <a:rPr sz="2175">
                <a:solidFill>
                  <a:srgbClr val="173728"/>
                </a:solidFill>
                <a:latin typeface="Arial"/>
                <a:ea typeface="Arial"/>
                <a:cs typeface="Arial"/>
              </a:rPr>
              <a:t>Build nested navigation and a public staff hierarchy</a:t>
            </a:r>
          </a:p>
        </p:txBody>
      </p:sp>
    </p:spTree>
    <p:extLst>
      <p:ext uri="{BB962C8B-B14F-4D97-AF65-F5344CB8AC3E}">
        <p14:creationId xmlns:p14="http://schemas.microsoft.com/office/powerpoint/2010/main" val="245980472"/>
      </p:ext>
    </p:extLst>
  </p:cSld>
</p:sld>
</file>

<file path=ppt/slides/slide18.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A966798-E0AF-4ADE-986B-20A1C6908A2F}"/>
              </a:ext>
            </a:extLst>
          </p:cNvPr>
          <p:cNvSpPr>
            <a:spLocks xmlns:a="http://schemas.openxmlformats.org/drawingml/2006/main" noGrp="1"/>
          </p:cNvSpPr>
          <p:nvPr/>
        </p:nvSpPr>
        <p:spPr>
          <a:xfrm xmlns:a="http://schemas.openxmlformats.org/drawingml/2006/main">
            <a:off x="619125" y="3619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173728"/>
                </a:solidFill>
                <a:latin typeface="Arial"/>
                <a:ea typeface="Arial"/>
                <a:cs typeface="Arial"/>
              </a:defRPr>
            </a:defPPr>
          </a:lstStyle>
          <a:p xmlns:a="http://schemas.openxmlformats.org/drawingml/2006/main">
            <a:pPr>
              <a:defRPr sz="2850" b="1">
                <a:solidFill>
                  <a:srgbClr val="173728"/>
                </a:solidFill>
                <a:latin typeface="Arial"/>
                <a:ea typeface="Arial"/>
                <a:cs typeface="Arial"/>
              </a:defRPr>
            </a:pPr>
            <a:r>
              <a:rPr sz="2850" b="1">
                <a:solidFill>
                  <a:srgbClr val="173728"/>
                </a:solidFill>
                <a:latin typeface="Arial"/>
                <a:ea typeface="Arial"/>
                <a:cs typeface="Arial"/>
              </a:rPr>
              <a:t>Homepage builder on desktop</a:t>
            </a:r>
          </a:p>
        </p:txBody>
      </p:sp>
      <p:pic>
        <p:nvPicPr>
          <p:cNvPr id="2" name="">
            <a:extLst xmlns:a="http://schemas.openxmlformats.org/drawingml/2006/main">
              <a:ext uri="{FF2B5EF4-FFF2-40B4-BE49-F238E27FC236}">
                <a16:creationId xmlns:a16="http://schemas.microsoft.com/office/drawing/2014/main" id="{C1885C71-21A7-412A-89EA-F726E95EC2C5}"/>
              </a:ext>
            </a:extLst>
          </p:cNvPr>
          <p:cNvPicPr>
            <a:picLocks xmlns:a="http://schemas.openxmlformats.org/drawingml/2006/main" noChangeAspect="1"/>
          </p:cNvPicPr>
          <p:nvPr/>
        </p:nvPicPr>
        <p:blipFill>
          <a:blip xmlns:r="http://schemas.openxmlformats.org/officeDocument/2006/relationships" xmlns:a="http://schemas.openxmlformats.org/drawingml/2006/main" r:embed="R79d29b2598d64b63"/>
          <a:stretch xmlns:a="http://schemas.openxmlformats.org/drawingml/2006/main"/>
        </p:blipFill>
        <p:spPr>
          <a:xfrm xmlns:a="http://schemas.openxmlformats.org/drawingml/2006/main">
            <a:off x="2171700" y="1200150"/>
            <a:ext cx="7848600" cy="490537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9A623ED-A2FD-42EC-9D8D-A1BF6210E759}"/>
              </a:ext>
            </a:extLst>
          </p:cNvPr>
          <p:cNvSpPr>
            <a:spLocks xmlns:a="http://schemas.openxmlformats.org/drawingml/2006/main" noGrp="1"/>
          </p:cNvSpPr>
          <p:nvPr/>
        </p:nvSpPr>
        <p:spPr>
          <a:xfrm xmlns:a="http://schemas.openxmlformats.org/drawingml/2006/main">
            <a:off x="619125" y="61912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73728"/>
                </a:solidFill>
                <a:latin typeface="Arial"/>
                <a:ea typeface="Arial"/>
                <a:cs typeface="Arial"/>
              </a:defRPr>
            </a:defPPr>
          </a:lstStyle>
          <a:p xmlns:a="http://schemas.openxmlformats.org/drawingml/2006/main">
            <a:pPr>
              <a:defRPr sz="1500" b="0">
                <a:solidFill>
                  <a:srgbClr val="173728"/>
                </a:solidFill>
                <a:latin typeface="Arial"/>
                <a:ea typeface="Arial"/>
                <a:cs typeface="Arial"/>
              </a:defRPr>
            </a:pPr>
            <a:r>
              <a:rPr sz="1500" b="0">
                <a:solidFill>
                  <a:srgbClr val="173728"/>
                </a:solidFill>
                <a:latin typeface="Arial"/>
                <a:ea typeface="Arial"/>
                <a:cs typeface="Arial"/>
              </a:rPr>
              <a:t>Section controls, content editing, and live preview</a:t>
            </a:r>
          </a:p>
        </p:txBody>
      </p:sp>
      <p:sp>
        <p:nvSpPr>
          <p:cNvPr id="4" name="">
            <a:extLst xmlns:a="http://schemas.openxmlformats.org/drawingml/2006/main">
              <a:ext uri="{FF2B5EF4-FFF2-40B4-BE49-F238E27FC236}">
                <a16:creationId xmlns:a16="http://schemas.microsoft.com/office/drawing/2014/main" id="{E1E62F2F-30FC-48FA-A25F-C786864A7F8F}"/>
              </a:ext>
            </a:extLst>
          </p:cNvPr>
          <p:cNvSpPr>
            <a:spLocks xmlns:a="http://schemas.openxmlformats.org/drawingml/2006/main" noGrp="1"/>
          </p:cNvSpPr>
          <p:nvPr/>
        </p:nvSpPr>
        <p:spPr>
          <a:xfrm xmlns:a="http://schemas.openxmlformats.org/drawingml/2006/main">
            <a:off x="619125" y="65341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06359"/>
                </a:solidFill>
                <a:latin typeface="Arial"/>
                <a:ea typeface="Arial"/>
                <a:cs typeface="Arial"/>
              </a:defRPr>
            </a:defPPr>
          </a:lstStyle>
          <a:p xmlns:a="http://schemas.openxmlformats.org/drawingml/2006/main">
            <a:pPr>
              <a:defRPr sz="1200" b="0">
                <a:solidFill>
                  <a:srgbClr val="506359"/>
                </a:solidFill>
                <a:latin typeface="Arial"/>
                <a:ea typeface="Arial"/>
                <a:cs typeface="Arial"/>
              </a:defRPr>
            </a:pPr>
            <a:r>
              <a:rPr sz="1200" b="0">
                <a:solidFill>
                  <a:srgbClr val="506359"/>
                </a:solidFill>
                <a:latin typeface="Arial"/>
                <a:ea typeface="Arial"/>
                <a:cs typeface="Arial"/>
              </a:rPr>
              <a:t>Local demo with sample records and placeholder product images</a:t>
            </a:r>
          </a:p>
        </p:txBody>
      </p:sp>
    </p:spTree>
    <p:extLst>
      <p:ext uri="{BB962C8B-B14F-4D97-AF65-F5344CB8AC3E}">
        <p14:creationId xmlns:p14="http://schemas.microsoft.com/office/powerpoint/2010/main" val="691975784"/>
      </p:ext>
    </p:extLst>
  </p:cSld>
</p:sld>
</file>

<file path=ppt/slides/slide19.xml><?xml version="1.0" encoding="utf-8"?>
<p:sld xmlns:p="http://schemas.openxmlformats.org/presentationml/2006/main">
  <p:cSld>
    <p:bg>
      <p:bgPr>
        <a:solidFill xmlns:a="http://schemas.openxmlformats.org/drawingml/2006/main">
          <a:srgbClr val="17372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07E7F82-C3EC-45CB-BE48-7A07CC123B0A}"/>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FFFFFF"/>
                </a:solidFill>
                <a:latin typeface="Arial"/>
                <a:ea typeface="Arial"/>
                <a:cs typeface="Arial"/>
              </a:defRPr>
            </a:defPPr>
          </a:lstStyle>
          <a:p xmlns:a="http://schemas.openxmlformats.org/drawingml/2006/main">
            <a:pPr>
              <a:buNone/>
              <a:defRPr sz="3300" b="1">
                <a:solidFill>
                  <a:srgbClr val="FFFFFF"/>
                </a:solidFill>
                <a:latin typeface="Arial"/>
                <a:ea typeface="Arial"/>
                <a:cs typeface="Arial"/>
              </a:defRPr>
            </a:pPr>
            <a:r>
              <a:rPr sz="3300" b="1">
                <a:solidFill>
                  <a:srgbClr val="FFFFFF"/>
                </a:solidFill>
                <a:latin typeface="Arial"/>
                <a:ea typeface="Arial"/>
                <a:cs typeface="Arial"/>
              </a:rPr>
              <a:t>Technical structure</a:t>
            </a:r>
          </a:p>
        </p:txBody>
      </p:sp>
      <p:sp>
        <p:nvSpPr>
          <p:cNvPr id="2" name="">
            <a:extLst xmlns:a="http://schemas.openxmlformats.org/drawingml/2006/main">
              <a:ext uri="{FF2B5EF4-FFF2-40B4-BE49-F238E27FC236}">
                <a16:creationId xmlns:a16="http://schemas.microsoft.com/office/drawing/2014/main" id="{C5159AD0-D321-45A9-9B0B-86E3E75BA750}"/>
              </a:ext>
            </a:extLst>
          </p:cNvPr>
          <p:cNvSpPr>
            <a:spLocks xmlns:a="http://schemas.openxmlformats.org/drawingml/2006/main" noGrp="1"/>
          </p:cNvSpPr>
          <p:nvPr/>
        </p:nvSpPr>
        <p:spPr>
          <a:xfrm xmlns:a="http://schemas.openxmlformats.org/drawingml/2006/main">
            <a:off x="10953750" y="62484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BED5B2"/>
                </a:solidFill>
                <a:latin typeface="Arial"/>
                <a:ea typeface="Arial"/>
                <a:cs typeface="Arial"/>
              </a:defRPr>
            </a:defPPr>
          </a:lstStyle>
          <a:p xmlns:a="http://schemas.openxmlformats.org/drawingml/2006/main">
            <a:pPr>
              <a:buNone/>
              <a:defRPr sz="1275" b="0">
                <a:solidFill>
                  <a:srgbClr val="BED5B2"/>
                </a:solidFill>
                <a:latin typeface="Arial"/>
                <a:ea typeface="Arial"/>
                <a:cs typeface="Arial"/>
              </a:defRPr>
            </a:pPr>
            <a:r>
              <a:rPr sz="1275" b="0">
                <a:solidFill>
                  <a:srgbClr val="BED5B2"/>
                </a:solidFill>
                <a:latin typeface="Arial"/>
                <a:ea typeface="Arial"/>
                <a:cs typeface="Arial"/>
              </a:rPr>
              <a:t>19</a:t>
            </a:r>
          </a:p>
        </p:txBody>
      </p:sp>
      <p:sp>
        <p:nvSpPr>
          <p:cNvPr id="3" name="">
            <a:extLst xmlns:a="http://schemas.openxmlformats.org/drawingml/2006/main">
              <a:ext uri="{FF2B5EF4-FFF2-40B4-BE49-F238E27FC236}">
                <a16:creationId xmlns:a16="http://schemas.microsoft.com/office/drawing/2014/main" id="{C518BE02-F113-4BB6-8C64-B6A2EC82AD27}"/>
              </a:ext>
            </a:extLst>
          </p:cNvPr>
          <p:cNvSpPr>
            <a:spLocks xmlns:a="http://schemas.openxmlformats.org/drawingml/2006/main" noGrp="1"/>
          </p:cNvSpPr>
          <p:nvPr/>
        </p:nvSpPr>
        <p:spPr>
          <a:xfrm xmlns:a="http://schemas.openxmlformats.org/drawingml/2006/main">
            <a:off x="666750" y="1857375"/>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BED5B2"/>
                </a:solidFill>
                <a:latin typeface="Arial"/>
                <a:ea typeface="Arial"/>
                <a:cs typeface="Arial"/>
              </a:defRPr>
            </a:defPPr>
          </a:lstStyle>
          <a:p xmlns:a="http://schemas.openxmlformats.org/drawingml/2006/main">
            <a:pPr>
              <a:buNone/>
              <a:defRPr sz="2250" b="1">
                <a:solidFill>
                  <a:srgbClr val="BED5B2"/>
                </a:solidFill>
                <a:latin typeface="Arial"/>
                <a:ea typeface="Arial"/>
                <a:cs typeface="Arial"/>
              </a:defRPr>
            </a:pPr>
            <a:r>
              <a:rPr sz="2250" b="1">
                <a:solidFill>
                  <a:srgbClr val="BED5B2"/>
                </a:solidFill>
                <a:latin typeface="Arial"/>
                <a:ea typeface="Arial"/>
                <a:cs typeface="Arial"/>
              </a:rPr>
              <a:t>Customer and admin interface</a:t>
            </a:r>
          </a:p>
        </p:txBody>
      </p:sp>
      <p:sp>
        <p:nvSpPr>
          <p:cNvPr id="4" name="">
            <a:extLst xmlns:a="http://schemas.openxmlformats.org/drawingml/2006/main">
              <a:ext uri="{FF2B5EF4-FFF2-40B4-BE49-F238E27FC236}">
                <a16:creationId xmlns:a16="http://schemas.microsoft.com/office/drawing/2014/main" id="{948955D1-3CAE-4E16-8629-2FC36A4F7FB0}"/>
              </a:ext>
            </a:extLst>
          </p:cNvPr>
          <p:cNvSpPr>
            <a:spLocks xmlns:a="http://schemas.openxmlformats.org/drawingml/2006/main" noGrp="1"/>
          </p:cNvSpPr>
          <p:nvPr/>
        </p:nvSpPr>
        <p:spPr>
          <a:xfrm xmlns:a="http://schemas.openxmlformats.org/drawingml/2006/main">
            <a:off x="666750" y="24193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FFFFFF"/>
                </a:solidFill>
                <a:latin typeface="Arial"/>
                <a:ea typeface="Arial"/>
                <a:cs typeface="Arial"/>
              </a:defRPr>
            </a:defPPr>
          </a:lstStyle>
          <a:p xmlns:a="http://schemas.openxmlformats.org/drawingml/2006/main">
            <a:pPr>
              <a:buNone/>
              <a:defRPr sz="2100" b="0">
                <a:solidFill>
                  <a:srgbClr val="FFFFFF"/>
                </a:solidFill>
                <a:latin typeface="Arial"/>
                <a:ea typeface="Arial"/>
                <a:cs typeface="Arial"/>
              </a:defRPr>
            </a:pPr>
            <a:r>
              <a:rPr sz="2100" b="0">
                <a:solidFill>
                  <a:srgbClr val="FFFFFF"/>
                </a:solidFill>
                <a:latin typeface="Arial"/>
                <a:ea typeface="Arial"/>
                <a:cs typeface="Arial"/>
              </a:rPr>
              <a:t>React 19, Vite, Tailwind CSS, React Router</a:t>
            </a:r>
          </a:p>
          <a:p xmlns:a="http://schemas.openxmlformats.org/drawingml/2006/main">
            <a:pPr>
              <a:buNone/>
              <a:defRPr sz="2100" b="0">
                <a:solidFill>
                  <a:srgbClr val="FFFFFF"/>
                </a:solidFill>
                <a:latin typeface="Arial"/>
                <a:ea typeface="Arial"/>
                <a:cs typeface="Arial"/>
              </a:defRPr>
            </a:pPr>
            <a:r>
              <a:rPr sz="2100" b="0">
                <a:solidFill>
                  <a:srgbClr val="FFFFFF"/>
                </a:solidFill>
                <a:latin typeface="Arial"/>
                <a:ea typeface="Arial"/>
                <a:cs typeface="Arial"/>
              </a:rPr>
              <a:t>Redux Toolkit, TanStack Query, Axios</a:t>
            </a:r>
          </a:p>
        </p:txBody>
      </p:sp>
      <p:sp>
        <p:nvSpPr>
          <p:cNvPr id="5" name="">
            <a:extLst xmlns:a="http://schemas.openxmlformats.org/drawingml/2006/main">
              <a:ext uri="{FF2B5EF4-FFF2-40B4-BE49-F238E27FC236}">
                <a16:creationId xmlns:a16="http://schemas.microsoft.com/office/drawing/2014/main" id="{E2548270-E33A-48CF-A5A7-F746B99A72E1}"/>
              </a:ext>
            </a:extLst>
          </p:cNvPr>
          <p:cNvSpPr>
            <a:spLocks xmlns:a="http://schemas.openxmlformats.org/drawingml/2006/main" noGrp="1"/>
          </p:cNvSpPr>
          <p:nvPr/>
        </p:nvSpPr>
        <p:spPr>
          <a:xfrm xmlns:a="http://schemas.openxmlformats.org/drawingml/2006/main">
            <a:off x="666750" y="3705225"/>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BED5B2"/>
                </a:solidFill>
                <a:latin typeface="Arial"/>
                <a:ea typeface="Arial"/>
                <a:cs typeface="Arial"/>
              </a:defRPr>
            </a:defPPr>
          </a:lstStyle>
          <a:p xmlns:a="http://schemas.openxmlformats.org/drawingml/2006/main">
            <a:pPr>
              <a:buNone/>
              <a:defRPr sz="2250" b="1">
                <a:solidFill>
                  <a:srgbClr val="BED5B2"/>
                </a:solidFill>
                <a:latin typeface="Arial"/>
                <a:ea typeface="Arial"/>
                <a:cs typeface="Arial"/>
              </a:defRPr>
            </a:pPr>
            <a:r>
              <a:rPr sz="2250" b="1">
                <a:solidFill>
                  <a:srgbClr val="BED5B2"/>
                </a:solidFill>
                <a:latin typeface="Arial"/>
                <a:ea typeface="Arial"/>
                <a:cs typeface="Arial"/>
              </a:rPr>
              <a:t>API and persistence</a:t>
            </a:r>
          </a:p>
        </p:txBody>
      </p:sp>
      <p:sp>
        <p:nvSpPr>
          <p:cNvPr id="6" name="">
            <a:extLst xmlns:a="http://schemas.openxmlformats.org/drawingml/2006/main">
              <a:ext uri="{FF2B5EF4-FFF2-40B4-BE49-F238E27FC236}">
                <a16:creationId xmlns:a16="http://schemas.microsoft.com/office/drawing/2014/main" id="{2159A71D-0122-4AFC-9CED-34466F9F3DCD}"/>
              </a:ext>
            </a:extLst>
          </p:cNvPr>
          <p:cNvSpPr>
            <a:spLocks xmlns:a="http://schemas.openxmlformats.org/drawingml/2006/main" noGrp="1"/>
          </p:cNvSpPr>
          <p:nvPr/>
        </p:nvSpPr>
        <p:spPr>
          <a:xfrm xmlns:a="http://schemas.openxmlformats.org/drawingml/2006/main">
            <a:off x="666750" y="42672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FFFFFF"/>
                </a:solidFill>
                <a:latin typeface="Arial"/>
                <a:ea typeface="Arial"/>
                <a:cs typeface="Arial"/>
              </a:defRPr>
            </a:defPPr>
          </a:lstStyle>
          <a:p xmlns:a="http://schemas.openxmlformats.org/drawingml/2006/main">
            <a:pPr>
              <a:buNone/>
              <a:defRPr sz="2100" b="0">
                <a:solidFill>
                  <a:srgbClr val="FFFFFF"/>
                </a:solidFill>
                <a:latin typeface="Arial"/>
                <a:ea typeface="Arial"/>
                <a:cs typeface="Arial"/>
              </a:defRPr>
            </a:pPr>
            <a:r>
              <a:rPr sz="2100" b="0">
                <a:solidFill>
                  <a:srgbClr val="FFFFFF"/>
                </a:solidFill>
                <a:latin typeface="Arial"/>
                <a:ea typeface="Arial"/>
                <a:cs typeface="Arial"/>
              </a:rPr>
              <a:t>Node.js and Express with MongoDB and Mongoose</a:t>
            </a:r>
          </a:p>
          <a:p xmlns:a="http://schemas.openxmlformats.org/drawingml/2006/main">
            <a:pPr>
              <a:buNone/>
              <a:defRPr sz="2100" b="0">
                <a:solidFill>
                  <a:srgbClr val="FFFFFF"/>
                </a:solidFill>
                <a:latin typeface="Arial"/>
                <a:ea typeface="Arial"/>
                <a:cs typeface="Arial"/>
              </a:defRPr>
            </a:pPr>
            <a:r>
              <a:rPr sz="2100" b="0">
                <a:solidFill>
                  <a:srgbClr val="FFFFFF"/>
                </a:solidFill>
                <a:latin typeface="Arial"/>
                <a:ea typeface="Arial"/>
                <a:cs typeface="Arial"/>
              </a:rPr>
              <a:t>ImageKit uploads, Leaflet maps, Socket.IO, and SMS</a:t>
            </a:r>
          </a:p>
        </p:txBody>
      </p:sp>
    </p:spTree>
    <p:extLst>
      <p:ext uri="{BB962C8B-B14F-4D97-AF65-F5344CB8AC3E}">
        <p14:creationId xmlns:p14="http://schemas.microsoft.com/office/powerpoint/2010/main" val="362944681"/>
      </p:ext>
    </p:extLst>
  </p:cSld>
</p:sld>
</file>

<file path=ppt/slides/slide20.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9F0B6AC-E6BD-44E6-88E7-D4D73EF9055A}"/>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73728"/>
                </a:solidFill>
                <a:latin typeface="Arial"/>
                <a:ea typeface="Arial"/>
                <a:cs typeface="Arial"/>
              </a:defRPr>
            </a:defPPr>
          </a:lstStyle>
          <a:p xmlns:a="http://schemas.openxmlformats.org/drawingml/2006/main">
            <a:pPr>
              <a:buNone/>
              <a:defRPr sz="3300" b="1">
                <a:solidFill>
                  <a:srgbClr val="173728"/>
                </a:solidFill>
                <a:latin typeface="Arial"/>
                <a:ea typeface="Arial"/>
                <a:cs typeface="Arial"/>
              </a:defRPr>
            </a:pPr>
            <a:r>
              <a:rPr sz="3300" b="1">
                <a:solidFill>
                  <a:srgbClr val="173728"/>
                </a:solidFill>
                <a:latin typeface="Arial"/>
                <a:ea typeface="Arial"/>
                <a:cs typeface="Arial"/>
              </a:rPr>
              <a:t>Current limitations and next priorities</a:t>
            </a:r>
          </a:p>
        </p:txBody>
      </p:sp>
      <p:sp>
        <p:nvSpPr>
          <p:cNvPr id="2" name="">
            <a:extLst xmlns:a="http://schemas.openxmlformats.org/drawingml/2006/main">
              <a:ext uri="{FF2B5EF4-FFF2-40B4-BE49-F238E27FC236}">
                <a16:creationId xmlns:a16="http://schemas.microsoft.com/office/drawing/2014/main" id="{2E1636FB-01A5-44BF-81AC-A565A59FCEF0}"/>
              </a:ext>
            </a:extLst>
          </p:cNvPr>
          <p:cNvSpPr>
            <a:spLocks xmlns:a="http://schemas.openxmlformats.org/drawingml/2006/main" noGrp="1"/>
          </p:cNvSpPr>
          <p:nvPr/>
        </p:nvSpPr>
        <p:spPr>
          <a:xfrm xmlns:a="http://schemas.openxmlformats.org/drawingml/2006/main">
            <a:off x="10953750" y="62484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06359"/>
                </a:solidFill>
                <a:latin typeface="Arial"/>
                <a:ea typeface="Arial"/>
                <a:cs typeface="Arial"/>
              </a:defRPr>
            </a:defPPr>
          </a:lstStyle>
          <a:p xmlns:a="http://schemas.openxmlformats.org/drawingml/2006/main">
            <a:pPr>
              <a:buNone/>
              <a:defRPr sz="1275" b="0">
                <a:solidFill>
                  <a:srgbClr val="506359"/>
                </a:solidFill>
                <a:latin typeface="Arial"/>
                <a:ea typeface="Arial"/>
                <a:cs typeface="Arial"/>
              </a:defRPr>
            </a:pPr>
            <a:r>
              <a:rPr sz="1275" b="0">
                <a:solidFill>
                  <a:srgbClr val="506359"/>
                </a:solidFill>
                <a:latin typeface="Arial"/>
                <a:ea typeface="Arial"/>
                <a:cs typeface="Arial"/>
              </a:rPr>
              <a:t>20</a:t>
            </a:r>
          </a:p>
        </p:txBody>
      </p:sp>
      <p:sp>
        <p:nvSpPr>
          <p:cNvPr id="3" name="">
            <a:extLst xmlns:a="http://schemas.openxmlformats.org/drawingml/2006/main">
              <a:ext uri="{FF2B5EF4-FFF2-40B4-BE49-F238E27FC236}">
                <a16:creationId xmlns:a16="http://schemas.microsoft.com/office/drawing/2014/main" id="{60EFE55F-F7C0-4D6C-B3EE-A3B4E405B6B5}"/>
              </a:ext>
            </a:extLst>
          </p:cNvPr>
          <p:cNvSpPr>
            <a:spLocks xmlns:a="http://schemas.openxmlformats.org/drawingml/2006/main" noGrp="1"/>
          </p:cNvSpPr>
          <p:nvPr/>
        </p:nvSpPr>
        <p:spPr>
          <a:xfrm xmlns:a="http://schemas.openxmlformats.org/drawingml/2006/main">
            <a:off x="666750" y="1943100"/>
            <a:ext cx="106680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3728"/>
                </a:solidFill>
                <a:latin typeface="Arial"/>
                <a:ea typeface="Arial"/>
                <a:cs typeface="Arial"/>
              </a:defRPr>
            </a:defPPr>
          </a:lstStyle>
          <a:p xmlns:a="http://schemas.openxmlformats.org/drawingml/2006/main">
            <a:pPr marL="254000" indent="-127000">
              <a:spcAft>
                <a:spcPts val="1700"/>
              </a:spcAft>
              <a:buChar char="•"/>
              <a:defRPr sz="2100" b="0">
                <a:solidFill>
                  <a:srgbClr val="173728"/>
                </a:solidFill>
                <a:latin typeface="Arial"/>
                <a:ea typeface="Arial"/>
                <a:cs typeface="Arial"/>
              </a:defRPr>
            </a:pPr>
            <a:r>
              <a:rPr sz="2100">
                <a:solidFill>
                  <a:srgbClr val="173728"/>
                </a:solidFill>
                <a:latin typeface="Arial"/>
                <a:ea typeface="Arial"/>
                <a:cs typeface="Arial"/>
              </a:rPr>
              <a:t>Protect promotion management APIs with admin authorization</a:t>
            </a:r>
          </a:p>
          <a:p xmlns:a="http://schemas.openxmlformats.org/drawingml/2006/main">
            <a:pPr marL="254000" indent="-127000">
              <a:spcAft>
                <a:spcPts val="1700"/>
              </a:spcAft>
              <a:buChar char="•"/>
              <a:defRPr sz="2100" b="0">
                <a:solidFill>
                  <a:srgbClr val="173728"/>
                </a:solidFill>
                <a:latin typeface="Arial"/>
                <a:ea typeface="Arial"/>
                <a:cs typeface="Arial"/>
              </a:defRPr>
            </a:pPr>
            <a:r>
              <a:rPr sz="2100">
                <a:solidFill>
                  <a:srgbClr val="173728"/>
                </a:solidFill>
                <a:latin typeface="Arial"/>
                <a:ea typeface="Arial"/>
                <a:cs typeface="Arial"/>
              </a:rPr>
              <a:t>Complete the Messages page and newsletter integration</a:t>
            </a:r>
          </a:p>
          <a:p xmlns:a="http://schemas.openxmlformats.org/drawingml/2006/main">
            <a:pPr marL="254000" indent="-127000">
              <a:spcAft>
                <a:spcPts val="1700"/>
              </a:spcAft>
              <a:buChar char="•"/>
              <a:defRPr sz="2100" b="0">
                <a:solidFill>
                  <a:srgbClr val="173728"/>
                </a:solidFill>
                <a:latin typeface="Arial"/>
                <a:ea typeface="Arial"/>
                <a:cs typeface="Arial"/>
              </a:defRPr>
            </a:pPr>
            <a:r>
              <a:rPr sz="2100">
                <a:solidFill>
                  <a:srgbClr val="173728"/>
                </a:solidFill>
                <a:latin typeface="Arial"/>
                <a:ea typeface="Arial"/>
                <a:cs typeface="Arial"/>
              </a:rPr>
              <a:t>Integrate a payment processor if online payments are required</a:t>
            </a:r>
          </a:p>
          <a:p xmlns:a="http://schemas.openxmlformats.org/drawingml/2006/main">
            <a:pPr marL="254000" indent="-127000">
              <a:spcAft>
                <a:spcPts val="1700"/>
              </a:spcAft>
              <a:buChar char="•"/>
              <a:defRPr sz="2100" b="0">
                <a:solidFill>
                  <a:srgbClr val="173728"/>
                </a:solidFill>
                <a:latin typeface="Arial"/>
                <a:ea typeface="Arial"/>
                <a:cs typeface="Arial"/>
              </a:defRPr>
            </a:pPr>
            <a:r>
              <a:rPr sz="2100">
                <a:solidFill>
                  <a:srgbClr val="173728"/>
                </a:solidFill>
                <a:latin typeface="Arial"/>
                <a:ea typeface="Arial"/>
                <a:cs typeface="Arial"/>
              </a:rPr>
              <a:t>Update the README to match the current implementation</a:t>
            </a:r>
          </a:p>
          <a:p xmlns:a="http://schemas.openxmlformats.org/drawingml/2006/main">
            <a:pPr marL="254000" indent="-127000">
              <a:spcAft>
                <a:spcPts val="1700"/>
              </a:spcAft>
              <a:buChar char="•"/>
              <a:defRPr sz="2100" b="0">
                <a:solidFill>
                  <a:srgbClr val="173728"/>
                </a:solidFill>
                <a:latin typeface="Arial"/>
                <a:ea typeface="Arial"/>
                <a:cs typeface="Arial"/>
              </a:defRPr>
            </a:pPr>
            <a:r>
              <a:rPr sz="2100">
                <a:solidFill>
                  <a:srgbClr val="173728"/>
                </a:solidFill>
                <a:latin typeface="Arial"/>
                <a:ea typeface="Arial"/>
                <a:cs typeface="Arial"/>
              </a:rPr>
              <a:t>Verify live workflows and external integrations before release</a:t>
            </a:r>
          </a:p>
        </p:txBody>
      </p:sp>
    </p:spTree>
    <p:extLst>
      <p:ext uri="{BB962C8B-B14F-4D97-AF65-F5344CB8AC3E}">
        <p14:creationId xmlns:p14="http://schemas.microsoft.com/office/powerpoint/2010/main" val="19896962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2026-10-18T07:17:53.1270000Z</dcterms:created>
  <dcterms:modified xsi:type="dcterms:W3CDTF">2026-10-18T07:17:53.1270000Z</dcterms:modified>
</coreProperties>
</file>